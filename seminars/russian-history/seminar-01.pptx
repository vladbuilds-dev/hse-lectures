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sldIdLst>
    <p:sldId id="286" r:id="rId5"/>
    <p:sldId id="329" r:id="rId6"/>
    <p:sldId id="955" r:id="rId7"/>
    <p:sldId id="287" r:id="rId8"/>
    <p:sldId id="290" r:id="rId9"/>
    <p:sldId id="957" r:id="rId10"/>
    <p:sldId id="958" r:id="rId11"/>
    <p:sldId id="291" r:id="rId12"/>
    <p:sldId id="326" r:id="rId13"/>
    <p:sldId id="956" r:id="rId14"/>
    <p:sldId id="328" r:id="rId15"/>
    <p:sldId id="285" r:id="rId16"/>
  </p:sldIdLst>
  <p:sldSz cx="12192000" cy="6858000"/>
  <p:notesSz cx="6858000" cy="9144000"/>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25" userDrawn="1">
          <p15:clr>
            <a:srgbClr val="A4A3A4"/>
          </p15:clr>
        </p15:guide>
        <p15:guide id="4" pos="1209" userDrawn="1">
          <p15:clr>
            <a:srgbClr val="A4A3A4"/>
          </p15:clr>
        </p15:guide>
        <p15:guide id="5" pos="2955" userDrawn="1">
          <p15:clr>
            <a:srgbClr val="A4A3A4"/>
          </p15:clr>
        </p15:guide>
        <p15:guide id="6" pos="2071" userDrawn="1">
          <p15:clr>
            <a:srgbClr val="A4A3A4"/>
          </p15:clr>
        </p15:guide>
        <p15:guide id="9" pos="3840" userDrawn="1">
          <p15:clr>
            <a:srgbClr val="A4A3A4"/>
          </p15:clr>
        </p15:guide>
        <p15:guide id="10" pos="4702" userDrawn="1">
          <p15:clr>
            <a:srgbClr val="A4A3A4"/>
          </p15:clr>
        </p15:guide>
        <p15:guide id="11" pos="5586" userDrawn="1">
          <p15:clr>
            <a:srgbClr val="A4A3A4"/>
          </p15:clr>
        </p15:guide>
        <p15:guide id="12" pos="7333" userDrawn="1">
          <p15:clr>
            <a:srgbClr val="A4A3A4"/>
          </p15:clr>
        </p15:guide>
        <p15:guide id="13" orient="horz" pos="3952" userDrawn="1">
          <p15:clr>
            <a:srgbClr val="A4A3A4"/>
          </p15:clr>
        </p15:guide>
        <p15:guide id="15" pos="6471" userDrawn="1">
          <p15:clr>
            <a:srgbClr val="A4A3A4"/>
          </p15:clr>
        </p15:guide>
        <p15:guide id="16" orient="horz" pos="91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Кутьков Юрий Юрьевич" initials="КЮЮ" lastIdx="4" clrIdx="0">
    <p:extLst>
      <p:ext uri="{19B8F6BF-5375-455C-9EA6-DF929625EA0E}">
        <p15:presenceInfo xmlns:p15="http://schemas.microsoft.com/office/powerpoint/2012/main" userId="S::ykutkov@hse.ru::45dbd1ed-eea1-4925-9fa4-5001421b49d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29C63"/>
    <a:srgbClr val="96628C"/>
    <a:srgbClr val="11A0D7"/>
    <a:srgbClr val="E61F3D"/>
    <a:srgbClr val="CD5A5A"/>
    <a:srgbClr val="FFD746"/>
    <a:srgbClr val="0E2D69"/>
    <a:srgbClr val="D9D9D9"/>
    <a:srgbClr val="EB681F"/>
    <a:srgbClr val="234A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C21501-8AC7-D24B-9BD4-4AB280FA19DE}" v="6" dt="2021-11-26T18:08:21.5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324"/>
    <p:restoredTop sz="94643"/>
  </p:normalViewPr>
  <p:slideViewPr>
    <p:cSldViewPr snapToGrid="0" snapToObjects="1">
      <p:cViewPr varScale="1">
        <p:scale>
          <a:sx n="109" d="100"/>
          <a:sy n="109" d="100"/>
        </p:scale>
        <p:origin x="216" y="208"/>
      </p:cViewPr>
      <p:guideLst>
        <p:guide pos="325"/>
        <p:guide pos="1209"/>
        <p:guide pos="2955"/>
        <p:guide pos="2071"/>
        <p:guide pos="3840"/>
        <p:guide pos="4702"/>
        <p:guide pos="5586"/>
        <p:guide pos="7333"/>
        <p:guide orient="horz" pos="3952"/>
        <p:guide pos="6471"/>
        <p:guide orient="horz" pos="913"/>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134" d="100"/>
          <a:sy n="134" d="100"/>
        </p:scale>
        <p:origin x="3648"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261BF4-8B2C-784B-9959-B59A059012C3}" type="datetimeFigureOut">
              <a:rPr lang="en-RU" smtClean="0"/>
              <a:t>9/1/26</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48903-8EB5-294E-A216-6B54B0368783}" type="slidenum">
              <a:rPr lang="en-RU" smtClean="0"/>
              <a:t>‹#›</a:t>
            </a:fld>
            <a:endParaRPr lang="en-RU"/>
          </a:p>
        </p:txBody>
      </p:sp>
    </p:spTree>
    <p:extLst>
      <p:ext uri="{BB962C8B-B14F-4D97-AF65-F5344CB8AC3E}">
        <p14:creationId xmlns:p14="http://schemas.microsoft.com/office/powerpoint/2010/main" val="173168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Обложк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8">
            <a:extLst>
              <a:ext uri="{FF2B5EF4-FFF2-40B4-BE49-F238E27FC236}">
                <a16:creationId xmlns:a16="http://schemas.microsoft.com/office/drawing/2014/main" id="{BA292C80-0DA8-194A-9A66-279048FA2A54}"/>
              </a:ext>
            </a:extLst>
          </p:cNvPr>
          <p:cNvPicPr>
            <a:picLocks noChangeAspect="1"/>
          </p:cNvPicPr>
          <p:nvPr userDrawn="1"/>
        </p:nvPicPr>
        <p:blipFill>
          <a:blip r:embed="rId3"/>
          <a:srcRect/>
          <a:stretch/>
        </p:blipFill>
        <p:spPr>
          <a:xfrm>
            <a:off x="1013859" y="962173"/>
            <a:ext cx="886499" cy="886499"/>
          </a:xfrm>
          <a:prstGeom prst="rect">
            <a:avLst/>
          </a:prstGeom>
        </p:spPr>
      </p:pic>
      <p:cxnSp>
        <p:nvCxnSpPr>
          <p:cNvPr id="11" name="Straight Connector 48">
            <a:extLst>
              <a:ext uri="{FF2B5EF4-FFF2-40B4-BE49-F238E27FC236}">
                <a16:creationId xmlns:a16="http://schemas.microsoft.com/office/drawing/2014/main" id="{313EF906-5BAC-0141-A198-076E155DF9E2}"/>
              </a:ext>
            </a:extLst>
          </p:cNvPr>
          <p:cNvCxnSpPr>
            <a:cxnSpLocks/>
          </p:cNvCxnSpPr>
          <p:nvPr userDrawn="1"/>
        </p:nvCxnSpPr>
        <p:spPr>
          <a:xfrm>
            <a:off x="6090212"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50">
            <a:extLst>
              <a:ext uri="{FF2B5EF4-FFF2-40B4-BE49-F238E27FC236}">
                <a16:creationId xmlns:a16="http://schemas.microsoft.com/office/drawing/2014/main" id="{61206A97-26F2-E646-8775-9928FEF465B5}"/>
              </a:ext>
            </a:extLst>
          </p:cNvPr>
          <p:cNvCxnSpPr>
            <a:cxnSpLocks/>
          </p:cNvCxnSpPr>
          <p:nvPr userDrawn="1"/>
        </p:nvCxnSpPr>
        <p:spPr>
          <a:xfrm>
            <a:off x="8642581"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51">
            <a:extLst>
              <a:ext uri="{FF2B5EF4-FFF2-40B4-BE49-F238E27FC236}">
                <a16:creationId xmlns:a16="http://schemas.microsoft.com/office/drawing/2014/main" id="{28E0E5F6-C1CA-9B41-B1DB-6E4FB509084D}"/>
              </a:ext>
            </a:extLst>
          </p:cNvPr>
          <p:cNvCxnSpPr>
            <a:cxnSpLocks/>
          </p:cNvCxnSpPr>
          <p:nvPr userDrawn="1"/>
        </p:nvCxnSpPr>
        <p:spPr>
          <a:xfrm>
            <a:off x="11179047"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a:prstGeom prst="rect">
            <a:avLst/>
          </a:prstGeom>
        </p:spPr>
        <p:txBody>
          <a:bodyPr lIns="0" tIns="0" rIns="0" bIns="0" anchor="t">
            <a:normAutofit/>
          </a:bodyPr>
          <a:lstStyle>
            <a:lvl1pPr>
              <a:lnSpc>
                <a:spcPct val="100000"/>
              </a:lnSpc>
              <a:defRPr sz="4300" b="0" i="0" baseline="0">
                <a:solidFill>
                  <a:srgbClr val="0E2D69"/>
                </a:solidFill>
                <a:latin typeface="HSE Sans" panose="02000000000000000000" pitchFamily="2" charset="0"/>
              </a:defRPr>
            </a:lvl1pPr>
          </a:lstStyle>
          <a:p>
            <a:r>
              <a:rPr lang="en-US" sz="4400" dirty="0">
                <a:solidFill>
                  <a:srgbClr val="102D69"/>
                </a:solidFill>
                <a:latin typeface="HSE Sans" panose="02000000000000000000" pitchFamily="2" charset="0"/>
              </a:rPr>
              <a:t>Name of presentation can be specified in two or three lines </a:t>
            </a:r>
            <a:r>
              <a:rPr lang="ru-RU" sz="4400" dirty="0">
                <a:solidFill>
                  <a:srgbClr val="102D69"/>
                </a:solidFill>
                <a:latin typeface="HSE Sans" panose="02000000000000000000" pitchFamily="2" charset="0"/>
              </a:rPr>
              <a:t> (43 </a:t>
            </a:r>
            <a:r>
              <a:rPr lang="en-GB" sz="4400" dirty="0" err="1">
                <a:solidFill>
                  <a:srgbClr val="102D69"/>
                </a:solidFill>
                <a:latin typeface="HSE Sans" panose="02000000000000000000" pitchFamily="2" charset="0"/>
              </a:rPr>
              <a:t>pt</a:t>
            </a:r>
            <a:r>
              <a:rPr lang="en-GB" sz="4400" dirty="0">
                <a:solidFill>
                  <a:srgbClr val="102D69"/>
                </a:solidFill>
                <a:latin typeface="HSE Sans" panose="02000000000000000000" pitchFamily="2" charset="0"/>
              </a:rPr>
              <a:t>)</a:t>
            </a:r>
            <a:endParaRPr lang="ru-RU" sz="4400" dirty="0">
              <a:solidFill>
                <a:srgbClr val="102D69"/>
              </a:solidFill>
              <a:latin typeface="HSE Sans" panose="02000000000000000000" pitchFamily="2" charset="0"/>
            </a:endParaRP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sz="quarter" idx="10" hasCustomPrompt="1"/>
          </p:nvPr>
        </p:nvSpPr>
        <p:spPr>
          <a:xfrm>
            <a:off x="2074947" y="1187841"/>
            <a:ext cx="3848717" cy="435163"/>
          </a:xfrm>
          <a:prstGeom prst="rect">
            <a:avLst/>
          </a:prstGeom>
        </p:spPr>
        <p:txBody>
          <a:bodyPr lIns="0" tIns="0" rIns="0" bIns="0" anchor="t">
            <a:noAutofit/>
          </a:bodyPr>
          <a:lstStyle>
            <a:lvl1pPr marL="0" indent="0" algn="l">
              <a:lnSpc>
                <a:spcPct val="100000"/>
              </a:lnSpc>
              <a:spcBef>
                <a:spcPts val="0"/>
              </a:spcBef>
              <a:buNone/>
              <a:defRPr sz="1600" b="0" i="0">
                <a:latin typeface="HSE Sans" panose="02000000000000000000" pitchFamily="2" charset="0"/>
              </a:defRPr>
            </a:lvl1pPr>
            <a:lvl2pPr marL="457200" indent="0" algn="l">
              <a:buNone/>
              <a:defRPr sz="1600" b="0" i="0">
                <a:latin typeface="HSE Sans" panose="02000000000000000000" pitchFamily="2" charset="0"/>
              </a:defRPr>
            </a:lvl2pPr>
            <a:lvl3pPr marL="914400" indent="0" algn="l">
              <a:buNone/>
              <a:defRPr sz="1600" b="0" i="0">
                <a:latin typeface="HSE Sans" panose="02000000000000000000" pitchFamily="2" charset="0"/>
              </a:defRPr>
            </a:lvl3pPr>
            <a:lvl4pPr marL="1371600" indent="0" algn="l">
              <a:buNone/>
              <a:defRPr sz="1600" b="0" i="0">
                <a:latin typeface="HSE Sans" panose="02000000000000000000" pitchFamily="2" charset="0"/>
              </a:defRPr>
            </a:lvl4pPr>
            <a:lvl5pPr marL="1828800" indent="0" algn="l">
              <a:buNone/>
              <a:defRPr sz="1600" b="0" i="0">
                <a:latin typeface="HSE Sans" panose="02000000000000000000" pitchFamily="2" charset="0"/>
              </a:defRPr>
            </a:lvl5pPr>
          </a:lstStyle>
          <a:p>
            <a:r>
              <a:rPr lang="en-GB" sz="1600" dirty="0">
                <a:latin typeface="HSE Sans" panose="02000000000000000000" pitchFamily="2" charset="0"/>
              </a:rPr>
              <a:t>Name of faculty in two lines (16 </a:t>
            </a:r>
            <a:r>
              <a:rPr lang="en-GB" sz="1600" dirty="0" err="1">
                <a:latin typeface="HSE Sans" panose="02000000000000000000" pitchFamily="2" charset="0"/>
              </a:rPr>
              <a:t>pt</a:t>
            </a:r>
            <a:r>
              <a:rPr lang="en-GB" sz="1600" dirty="0">
                <a:latin typeface="HSE Sans" panose="02000000000000000000" pitchFamily="2" charset="0"/>
              </a:rPr>
              <a:t>)</a:t>
            </a:r>
            <a:endParaRPr lang="ru-RU" sz="1600" dirty="0">
              <a:latin typeface="HSE Sans" panose="02000000000000000000" pitchFamily="2" charset="0"/>
            </a:endParaRP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sz="quarter" idx="11" hasCustomPrompt="1"/>
          </p:nvPr>
        </p:nvSpPr>
        <p:spPr>
          <a:xfrm>
            <a:off x="6259420" y="1173829"/>
            <a:ext cx="2278063" cy="46318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r>
              <a:rPr lang="en-GB" sz="1200" dirty="0">
                <a:latin typeface="HSE Sans" panose="02000000000000000000" pitchFamily="2" charset="0"/>
              </a:rPr>
              <a:t>Name of subdivision in two or three lines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8786720" y="1173829"/>
            <a:ext cx="2217738" cy="46318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r>
              <a:rPr lang="en-US" sz="1200" dirty="0">
                <a:latin typeface="HSE Sans" panose="02000000000000000000" pitchFamily="2" charset="0"/>
              </a:rPr>
              <a:t>Moscow</a:t>
            </a:r>
            <a:br>
              <a:rPr lang="ru-RU" sz="1200" dirty="0">
                <a:latin typeface="HSE Sans" panose="02000000000000000000" pitchFamily="2" charset="0"/>
              </a:rPr>
            </a:br>
            <a:r>
              <a:rPr lang="ru-RU" sz="1200" dirty="0">
                <a:latin typeface="HSE Sans" panose="02000000000000000000" pitchFamily="2" charset="0"/>
              </a:rPr>
              <a:t>2022</a:t>
            </a:r>
            <a:r>
              <a:rPr lang="en-GB" sz="1200" dirty="0">
                <a:latin typeface="HSE Sans" panose="02000000000000000000" pitchFamily="2" charset="0"/>
              </a:rPr>
              <a:t>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sz="quarter" idx="13" hasCustomPrompt="1"/>
          </p:nvPr>
        </p:nvSpPr>
        <p:spPr>
          <a:xfrm>
            <a:off x="1027967" y="4824914"/>
            <a:ext cx="7625267" cy="652860"/>
          </a:xfrm>
          <a:prstGeom prst="rect">
            <a:avLst/>
          </a:prstGeom>
        </p:spPr>
        <p:txBody>
          <a:bodyPr lIns="0" tIns="0" rIns="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rgbClr val="0E2D69"/>
                </a:solidFill>
                <a:latin typeface="HSE Sans" panose="02000000000000000000" pitchFamily="2" charset="0"/>
              </a:defRPr>
            </a:lvl1pPr>
          </a:lstStyle>
          <a:p>
            <a:r>
              <a:rPr lang="en-US" sz="1600" dirty="0">
                <a:latin typeface="HSE Sans" panose="02000000000000000000" pitchFamily="2" charset="0"/>
              </a:rPr>
              <a:t>If you need more space, please use a subheading (16 </a:t>
            </a:r>
            <a:r>
              <a:rPr lang="en-US" sz="1600" dirty="0" err="1">
                <a:latin typeface="HSE Sans" panose="02000000000000000000" pitchFamily="2" charset="0"/>
              </a:rPr>
              <a:t>pt</a:t>
            </a:r>
            <a:r>
              <a:rPr lang="en-US" sz="1600" dirty="0">
                <a:latin typeface="HSE Sans" panose="02000000000000000000" pitchFamily="2" charset="0"/>
              </a:rPr>
              <a:t>)</a:t>
            </a:r>
            <a:endParaRPr lang="ru-RU" sz="1600" dirty="0">
              <a:latin typeface="HSE Sans" panose="02000000000000000000" pitchFamily="2" charset="0"/>
            </a:endParaRPr>
          </a:p>
        </p:txBody>
      </p:sp>
    </p:spTree>
    <p:extLst>
      <p:ext uri="{BB962C8B-B14F-4D97-AF65-F5344CB8AC3E}">
        <p14:creationId xmlns:p14="http://schemas.microsoft.com/office/powerpoint/2010/main" val="418289591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екст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4" descr="Icon&#10;&#10;Description automatically generated">
            <a:extLst>
              <a:ext uri="{FF2B5EF4-FFF2-40B4-BE49-F238E27FC236}">
                <a16:creationId xmlns:a16="http://schemas.microsoft.com/office/drawing/2014/main" id="{4A1436AC-5F96-2A4F-BFC7-B3442083EBE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11" name="Straight Connector 19">
            <a:extLst>
              <a:ext uri="{FF2B5EF4-FFF2-40B4-BE49-F238E27FC236}">
                <a16:creationId xmlns:a16="http://schemas.microsoft.com/office/drawing/2014/main" id="{067DD2ED-246D-7D41-B51F-FED98BF873F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21">
            <a:extLst>
              <a:ext uri="{FF2B5EF4-FFF2-40B4-BE49-F238E27FC236}">
                <a16:creationId xmlns:a16="http://schemas.microsoft.com/office/drawing/2014/main" id="{68E8C250-D449-A743-8975-B5BFB04D9744}"/>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25">
            <a:extLst>
              <a:ext uri="{FF2B5EF4-FFF2-40B4-BE49-F238E27FC236}">
                <a16:creationId xmlns:a16="http://schemas.microsoft.com/office/drawing/2014/main" id="{DD1C71CA-B883-AF42-959D-BCA5690AAA4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4D3A12E-0E10-C441-81D2-C3C1EB6A053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9" name="Straight Connector 59">
            <a:extLst>
              <a:ext uri="{FF2B5EF4-FFF2-40B4-BE49-F238E27FC236}">
                <a16:creationId xmlns:a16="http://schemas.microsoft.com/office/drawing/2014/main" id="{3447008E-4F3B-FC4E-B96D-3927FAE1ED1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4" name="Рисунок 23">
            <a:extLst>
              <a:ext uri="{FF2B5EF4-FFF2-40B4-BE49-F238E27FC236}">
                <a16:creationId xmlns:a16="http://schemas.microsoft.com/office/drawing/2014/main" id="{61115A7A-23E5-E442-9551-F72F1CDA57B9}"/>
              </a:ext>
            </a:extLst>
          </p:cNvPr>
          <p:cNvSpPr>
            <a:spLocks noGrp="1"/>
          </p:cNvSpPr>
          <p:nvPr>
            <p:ph type="pic" sz="quarter" idx="10" hasCustomPrompt="1"/>
          </p:nvPr>
        </p:nvSpPr>
        <p:spPr>
          <a:xfrm>
            <a:off x="6684653" y="1447790"/>
            <a:ext cx="4325167" cy="4325107"/>
          </a:xfrm>
          <a:prstGeom prst="rect">
            <a:avLst/>
          </a:prstGeom>
          <a:solidFill>
            <a:srgbClr val="D9D9D9"/>
          </a:solidFill>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2">
                    <a:lumMod val="10000"/>
                  </a:schemeClr>
                </a:solidFill>
              </a:defRPr>
            </a:lvl1pPr>
          </a:lstStyle>
          <a:p>
            <a:pPr algn="ctr"/>
            <a:r>
              <a:rPr lang="en-US" sz="2800" dirty="0">
                <a:solidFill>
                  <a:schemeClr val="tx1"/>
                </a:solidFill>
                <a:latin typeface="HSE Sans" panose="02000000000000000000" pitchFamily="2" charset="0"/>
              </a:rPr>
              <a:t>You can place an illustration or photograph here so that your slide doesn’t look empty</a:t>
            </a:r>
            <a:endParaRPr lang="en-RU" sz="2800" dirty="0">
              <a:solidFill>
                <a:schemeClr val="tx1"/>
              </a:solidFill>
              <a:latin typeface="HSE Sans" panose="02000000000000000000" pitchFamily="2" charset="0"/>
            </a:endParaRPr>
          </a:p>
        </p:txBody>
      </p:sp>
      <p:sp>
        <p:nvSpPr>
          <p:cNvPr id="32" name="Заголовок 31">
            <a:extLst>
              <a:ext uri="{FF2B5EF4-FFF2-40B4-BE49-F238E27FC236}">
                <a16:creationId xmlns:a16="http://schemas.microsoft.com/office/drawing/2014/main" id="{9ED7AA97-D972-DF4F-B662-A65F2A544CC5}"/>
              </a:ext>
            </a:extLst>
          </p:cNvPr>
          <p:cNvSpPr>
            <a:spLocks noGrp="1"/>
          </p:cNvSpPr>
          <p:nvPr>
            <p:ph type="title" hasCustomPrompt="1"/>
          </p:nvPr>
        </p:nvSpPr>
        <p:spPr>
          <a:xfrm>
            <a:off x="585898" y="1447790"/>
            <a:ext cx="524556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36" name="Текст 35">
            <a:extLst>
              <a:ext uri="{FF2B5EF4-FFF2-40B4-BE49-F238E27FC236}">
                <a16:creationId xmlns:a16="http://schemas.microsoft.com/office/drawing/2014/main" id="{69E35E54-2B19-7441-876F-1C6A84F4F156}"/>
              </a:ext>
            </a:extLst>
          </p:cNvPr>
          <p:cNvSpPr>
            <a:spLocks noGrp="1"/>
          </p:cNvSpPr>
          <p:nvPr>
            <p:ph type="body" sz="quarter" idx="12" hasCustomPrompt="1"/>
          </p:nvPr>
        </p:nvSpPr>
        <p:spPr>
          <a:xfrm>
            <a:off x="585897" y="2379663"/>
            <a:ext cx="5245561" cy="3393234"/>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200"/>
              </a:spcBef>
            </a:pPr>
            <a:r>
              <a:rPr lang="en-US" sz="1300" dirty="0">
                <a:latin typeface="HSE Sans" panose="02000000000000000000" pitchFamily="2" charset="0"/>
              </a:rPr>
              <a:t>Moderately sized bits of text can be presented in a single column, but they shouldn’t take up the whole screen. A text that is arranged in a long line might be too hard to read; always bear in mind the perspective of those who will be viewing your presentation. Try to limit each line to seven to 10 words. More than that might put your audience to sleep. </a:t>
            </a:r>
            <a:r>
              <a:rPr lang="en-US" sz="1300" i="1" dirty="0">
                <a:latin typeface="HSE Sans" panose="02000000000000000000" pitchFamily="2" charset="0"/>
              </a:rPr>
              <a:t>If you have space left and wish to make your slide more visual, you can include a small image nearby, which should illustrate or supplement your text.</a:t>
            </a:r>
            <a:endParaRPr lang="ru-RU" sz="1300" i="1" dirty="0">
              <a:latin typeface="HSE Sans" panose="02000000000000000000" pitchFamily="2" charset="0"/>
            </a:endParaRPr>
          </a:p>
        </p:txBody>
      </p:sp>
      <p:sp>
        <p:nvSpPr>
          <p:cNvPr id="38" name="Текст 37">
            <a:extLst>
              <a:ext uri="{FF2B5EF4-FFF2-40B4-BE49-F238E27FC236}">
                <a16:creationId xmlns:a16="http://schemas.microsoft.com/office/drawing/2014/main" id="{7FB4A275-856E-364D-8AA4-2071AADC6AAA}"/>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40" name="Текст 39">
            <a:extLst>
              <a:ext uri="{FF2B5EF4-FFF2-40B4-BE49-F238E27FC236}">
                <a16:creationId xmlns:a16="http://schemas.microsoft.com/office/drawing/2014/main" id="{58FBA0EA-8BE0-A643-B258-4E5C34467172}"/>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41" name="Текст 39">
            <a:extLst>
              <a:ext uri="{FF2B5EF4-FFF2-40B4-BE49-F238E27FC236}">
                <a16:creationId xmlns:a16="http://schemas.microsoft.com/office/drawing/2014/main" id="{0BEC062F-1BEB-DE4C-B7EE-C552C9D45F13}"/>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1341287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екст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FDC66DB8-29BC-5940-A721-40F10021456A}"/>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DE27C859-478F-3648-8A9D-2C85DBDCAC0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58EA1144-CFD8-1D47-B430-7014F576043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96EDC73C-5A3C-014E-8E52-04CAFCA9B20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5E88681-53A8-3B45-B80A-372EDFB53883}"/>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EDA7D8BF-DF37-704F-B77F-7E40752ACE25}"/>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6" name="Заголовок 31">
            <a:extLst>
              <a:ext uri="{FF2B5EF4-FFF2-40B4-BE49-F238E27FC236}">
                <a16:creationId xmlns:a16="http://schemas.microsoft.com/office/drawing/2014/main" id="{76942483-EB13-0A4B-8060-DB65024C294E}"/>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7" name="Текст 35">
            <a:extLst>
              <a:ext uri="{FF2B5EF4-FFF2-40B4-BE49-F238E27FC236}">
                <a16:creationId xmlns:a16="http://schemas.microsoft.com/office/drawing/2014/main" id="{66FAD63B-F743-0F47-BBE3-D7731766705A}"/>
              </a:ext>
            </a:extLst>
          </p:cNvPr>
          <p:cNvSpPr>
            <a:spLocks noGrp="1"/>
          </p:cNvSpPr>
          <p:nvPr>
            <p:ph type="body" sz="quarter" idx="12" hasCustomPrompt="1"/>
          </p:nvPr>
        </p:nvSpPr>
        <p:spPr>
          <a:xfrm>
            <a:off x="585897" y="2379663"/>
            <a:ext cx="11057971" cy="3745092"/>
          </a:xfrm>
          <a:prstGeom prst="rect">
            <a:avLst/>
          </a:prstGeom>
        </p:spPr>
        <p:txBody>
          <a:bodyPr lIns="0" tIns="0" rIns="0" numCol="3" spcCol="25200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200"/>
              </a:spcBef>
            </a:pPr>
            <a:r>
              <a:rPr lang="en-US" sz="1300" dirty="0">
                <a:latin typeface="HSE Sans" panose="02000000000000000000" pitchFamily="2" charset="0"/>
              </a:rPr>
              <a:t>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a:t>
            </a:r>
          </a:p>
          <a:p>
            <a:pPr>
              <a:spcBef>
                <a:spcPts val="1200"/>
              </a:spcBef>
            </a:pPr>
            <a:r>
              <a:rPr lang="en-US" sz="1300" dirty="0">
                <a:latin typeface="HSE Sans" panose="02000000000000000000" pitchFamily="2" charset="0"/>
              </a:rPr>
              <a:t>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a:t>
            </a:r>
            <a:endParaRPr lang="ru-RU" sz="1300" dirty="0">
              <a:latin typeface="HSE Sans" panose="02000000000000000000" pitchFamily="2" charset="0"/>
            </a:endParaRPr>
          </a:p>
        </p:txBody>
      </p:sp>
      <p:sp>
        <p:nvSpPr>
          <p:cNvPr id="21" name="Текст 37">
            <a:extLst>
              <a:ext uri="{FF2B5EF4-FFF2-40B4-BE49-F238E27FC236}">
                <a16:creationId xmlns:a16="http://schemas.microsoft.com/office/drawing/2014/main" id="{45421580-30B9-AE44-9576-3890C98F5E85}"/>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2" name="Текст 39">
            <a:extLst>
              <a:ext uri="{FF2B5EF4-FFF2-40B4-BE49-F238E27FC236}">
                <a16:creationId xmlns:a16="http://schemas.microsoft.com/office/drawing/2014/main" id="{778A6943-08BD-8C4D-A524-728A4340014C}"/>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3" name="Текст 39">
            <a:extLst>
              <a:ext uri="{FF2B5EF4-FFF2-40B4-BE49-F238E27FC236}">
                <a16:creationId xmlns:a16="http://schemas.microsoft.com/office/drawing/2014/main" id="{EB90A960-EE54-5742-BBB0-8536917AD4C0}"/>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352718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екст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0E78CA68-7A0C-CF41-9AC6-A547FB9EC3B0}"/>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45DC512A-A23B-B24D-A1F6-6793976867CF}"/>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21F91649-DF0F-5F45-A43B-2CED9ACDD04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3137B760-1A50-1845-B7F2-1EF31C71C72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5ECCF8F-5855-7943-B503-5573887A534D}"/>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FB81B23D-CDD8-E64C-9887-3540F7EE1C4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Текст 35">
            <a:extLst>
              <a:ext uri="{FF2B5EF4-FFF2-40B4-BE49-F238E27FC236}">
                <a16:creationId xmlns:a16="http://schemas.microsoft.com/office/drawing/2014/main" id="{5163BE0A-A745-414A-AF21-D968BD69D2DA}"/>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300"/>
              </a:spcBef>
            </a:pPr>
            <a:r>
              <a:rPr lang="en-US" sz="1300" dirty="0">
                <a:latin typeface="HSE Sans" panose="02000000000000000000" pitchFamily="2" charset="0"/>
              </a:rPr>
              <a:t>Here I am, a regular text as seen on the right; you can take me anywhere in the same size (13 </a:t>
            </a:r>
            <a:r>
              <a:rPr lang="en-US" sz="1300" dirty="0" err="1">
                <a:latin typeface="HSE Sans" panose="02000000000000000000" pitchFamily="2" charset="0"/>
              </a:rPr>
              <a:t>pt</a:t>
            </a:r>
            <a:r>
              <a:rPr lang="en-US" sz="1300" dirty="0">
                <a:latin typeface="HSE Sans" panose="02000000000000000000" pitchFamily="2" charset="0"/>
              </a:rPr>
              <a:t>), so I am readable on both the screen and in print-outs of slides. Don’t increase my size if you don’t need to, since you have the full screen option at your fingertips. Here I am, a regular text as described on the right; you can take me anywhere in the same size (13 </a:t>
            </a:r>
            <a:r>
              <a:rPr lang="en-US" sz="1300" dirty="0" err="1">
                <a:latin typeface="HSE Sans" panose="02000000000000000000" pitchFamily="2" charset="0"/>
              </a:rPr>
              <a:t>pt</a:t>
            </a:r>
            <a:r>
              <a:rPr lang="en-US" sz="1300" dirty="0">
                <a:latin typeface="HSE Sans" panose="02000000000000000000" pitchFamily="2" charset="0"/>
              </a:rPr>
              <a:t>), so I am readable on both the screen and in print-outs of slides. Don’t increase my size if you don’t need to, since you have the full screen option at your fingertips.</a:t>
            </a:r>
            <a:endParaRPr lang="ru-RU" sz="1300" dirty="0">
              <a:latin typeface="HSE Sans" panose="02000000000000000000" pitchFamily="2" charset="0"/>
            </a:endParaRPr>
          </a:p>
        </p:txBody>
      </p:sp>
      <p:sp>
        <p:nvSpPr>
          <p:cNvPr id="20" name="Текст 35">
            <a:extLst>
              <a:ext uri="{FF2B5EF4-FFF2-40B4-BE49-F238E27FC236}">
                <a16:creationId xmlns:a16="http://schemas.microsoft.com/office/drawing/2014/main" id="{B3D47CF6-5FC1-2346-8894-A7CC39063DE3}"/>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000" dirty="0">
                <a:latin typeface="HSE Sans" panose="02000000000000000000" pitchFamily="2" charset="0"/>
              </a:rPr>
              <a:t>Notes, other clarifications or additional information should be presented in a smaller size (10 </a:t>
            </a:r>
            <a:r>
              <a:rPr lang="en-US" sz="1000" dirty="0" err="1">
                <a:latin typeface="HSE Sans" panose="02000000000000000000" pitchFamily="2" charset="0"/>
              </a:rPr>
              <a:t>pt</a:t>
            </a:r>
            <a:r>
              <a:rPr lang="en-US" sz="1000" dirty="0">
                <a:latin typeface="HSE Sans" panose="02000000000000000000" pitchFamily="2" charset="0"/>
              </a:rPr>
              <a:t>)</a:t>
            </a:r>
            <a:endParaRPr lang="ru-RU" sz="1000" dirty="0">
              <a:latin typeface="HSE Sans" panose="02000000000000000000" pitchFamily="2" charset="0"/>
            </a:endParaRPr>
          </a:p>
        </p:txBody>
      </p:sp>
      <p:sp>
        <p:nvSpPr>
          <p:cNvPr id="23" name="Текст 22">
            <a:extLst>
              <a:ext uri="{FF2B5EF4-FFF2-40B4-BE49-F238E27FC236}">
                <a16:creationId xmlns:a16="http://schemas.microsoft.com/office/drawing/2014/main" id="{CD14B8F3-89C2-9F45-809E-D1EAF85AC566}"/>
              </a:ext>
            </a:extLst>
          </p:cNvPr>
          <p:cNvSpPr>
            <a:spLocks noGrp="1"/>
          </p:cNvSpPr>
          <p:nvPr>
            <p:ph type="body" sz="quarter" idx="18" hasCustomPrompt="1"/>
          </p:nvPr>
        </p:nvSpPr>
        <p:spPr>
          <a:xfrm>
            <a:off x="6259892" y="2379663"/>
            <a:ext cx="5383968" cy="3451794"/>
          </a:xfrm>
          <a:prstGeom prst="rect">
            <a:avLst/>
          </a:prstGeo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3200" b="0" i="0">
                <a:solidFill>
                  <a:srgbClr val="0E2D69"/>
                </a:solidFill>
                <a:latin typeface="HSE Sans" panose="02000000000000000000" pitchFamily="2" charset="0"/>
              </a:defRPr>
            </a:lvl1pPr>
          </a:lstStyle>
          <a:p>
            <a:r>
              <a:rPr lang="en-US" sz="3200" dirty="0">
                <a:solidFill>
                  <a:srgbClr val="102D69"/>
                </a:solidFill>
                <a:latin typeface="HSE Sans" panose="02000000000000000000" pitchFamily="2" charset="0"/>
              </a:rPr>
              <a:t>Short phrase with important information can have a larger font size than normal, but we don’t recommend doing this often.</a:t>
            </a:r>
            <a:endParaRPr lang="ru-RU" sz="3200" dirty="0">
              <a:solidFill>
                <a:srgbClr val="102D69"/>
              </a:solidFill>
              <a:latin typeface="HSE Sans" panose="02000000000000000000" pitchFamily="2" charset="0"/>
            </a:endParaRPr>
          </a:p>
        </p:txBody>
      </p:sp>
      <p:sp>
        <p:nvSpPr>
          <p:cNvPr id="25" name="Заголовок 31">
            <a:extLst>
              <a:ext uri="{FF2B5EF4-FFF2-40B4-BE49-F238E27FC236}">
                <a16:creationId xmlns:a16="http://schemas.microsoft.com/office/drawing/2014/main" id="{B32DC3D4-97A5-3E4F-A29B-422D5E3129B7}"/>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5" name="Текст 37">
            <a:extLst>
              <a:ext uri="{FF2B5EF4-FFF2-40B4-BE49-F238E27FC236}">
                <a16:creationId xmlns:a16="http://schemas.microsoft.com/office/drawing/2014/main" id="{87E14987-3496-B241-A4C9-88FACDD837F5}"/>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6" name="Текст 39">
            <a:extLst>
              <a:ext uri="{FF2B5EF4-FFF2-40B4-BE49-F238E27FC236}">
                <a16:creationId xmlns:a16="http://schemas.microsoft.com/office/drawing/2014/main" id="{3DAEB9AB-245D-774E-9656-B80FCC7A20BB}"/>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8" name="Текст 39">
            <a:extLst>
              <a:ext uri="{FF2B5EF4-FFF2-40B4-BE49-F238E27FC236}">
                <a16:creationId xmlns:a16="http://schemas.microsoft.com/office/drawing/2014/main" id="{98145217-7421-9C4F-9483-5AEA3D289575}"/>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663795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График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E89D752-CAC6-0943-9A3D-4C52DBF50CE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64D89E64-93BB-044D-B3D4-8F2679C5CA4C}"/>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D0C3B169-866D-C645-AF76-00F8C2A97E9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FDDF48AB-D8AE-0E42-A544-8EA5B8744778}"/>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6DF89EC-1E7C-3B40-85F4-6D19A7D29AC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019D6862-BD52-734D-9E19-38C147CA2D2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Заголовок 31">
            <a:extLst>
              <a:ext uri="{FF2B5EF4-FFF2-40B4-BE49-F238E27FC236}">
                <a16:creationId xmlns:a16="http://schemas.microsoft.com/office/drawing/2014/main" id="{B3F16318-C9C3-B948-A508-4BC53D0B7716}"/>
              </a:ext>
            </a:extLst>
          </p:cNvPr>
          <p:cNvSpPr>
            <a:spLocks noGrp="1"/>
          </p:cNvSpPr>
          <p:nvPr>
            <p:ph type="title" hasCustomPrompt="1"/>
          </p:nvPr>
        </p:nvSpPr>
        <p:spPr>
          <a:xfrm>
            <a:off x="585899" y="1447790"/>
            <a:ext cx="432253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8" name="Текст 35">
            <a:extLst>
              <a:ext uri="{FF2B5EF4-FFF2-40B4-BE49-F238E27FC236}">
                <a16:creationId xmlns:a16="http://schemas.microsoft.com/office/drawing/2014/main" id="{23B3E5FB-BBCE-4149-AD9A-8CAB06CC9FCF}"/>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9" name="Текст 35">
            <a:extLst>
              <a:ext uri="{FF2B5EF4-FFF2-40B4-BE49-F238E27FC236}">
                <a16:creationId xmlns:a16="http://schemas.microsoft.com/office/drawing/2014/main" id="{658542D3-7E45-6E46-8039-27C4C43DD617}"/>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000" dirty="0">
                <a:latin typeface="HSE Sans" panose="02000000000000000000" pitchFamily="2" charset="0"/>
              </a:rPr>
              <a:t>Notes, other clarifications or additional information should be presented in a smaller size (10 </a:t>
            </a:r>
            <a:r>
              <a:rPr lang="en-US" sz="1000" dirty="0" err="1">
                <a:latin typeface="HSE Sans" panose="02000000000000000000" pitchFamily="2" charset="0"/>
              </a:rPr>
              <a:t>pt</a:t>
            </a:r>
            <a:r>
              <a:rPr lang="en-US" sz="1000" dirty="0">
                <a:latin typeface="HSE Sans" panose="02000000000000000000" pitchFamily="2" charset="0"/>
              </a:rPr>
              <a: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57965DCA-4776-7546-97FD-A69317A34CF2}"/>
              </a:ext>
            </a:extLst>
          </p:cNvPr>
          <p:cNvSpPr>
            <a:spLocks noGrp="1"/>
          </p:cNvSpPr>
          <p:nvPr>
            <p:ph type="chart" sz="quarter" idx="10"/>
          </p:nvPr>
        </p:nvSpPr>
        <p:spPr>
          <a:xfrm>
            <a:off x="5272097" y="1447790"/>
            <a:ext cx="6371768" cy="4289457"/>
          </a:xfrm>
          <a:prstGeom prst="rect">
            <a:avLst/>
          </a:prstGeom>
        </p:spPr>
        <p:txBody>
          <a:bodyPr/>
          <a:lstStyle/>
          <a:p>
            <a:endParaRPr lang="ru-RU"/>
          </a:p>
        </p:txBody>
      </p:sp>
      <p:sp>
        <p:nvSpPr>
          <p:cNvPr id="15" name="Текст 37">
            <a:extLst>
              <a:ext uri="{FF2B5EF4-FFF2-40B4-BE49-F238E27FC236}">
                <a16:creationId xmlns:a16="http://schemas.microsoft.com/office/drawing/2014/main" id="{F0037DB7-9A83-3348-8DAE-CC70560E4099}"/>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0" name="Текст 39">
            <a:extLst>
              <a:ext uri="{FF2B5EF4-FFF2-40B4-BE49-F238E27FC236}">
                <a16:creationId xmlns:a16="http://schemas.microsoft.com/office/drawing/2014/main" id="{4007716A-CF6E-BC4E-83BE-CC4A3F1F2008}"/>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2" name="Текст 39">
            <a:extLst>
              <a:ext uri="{FF2B5EF4-FFF2-40B4-BE49-F238E27FC236}">
                <a16:creationId xmlns:a16="http://schemas.microsoft.com/office/drawing/2014/main" id="{4921AC85-F824-C54B-91ED-6AB495D80D7A}"/>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2507113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График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11D7C3EB-CCEB-E142-9753-8B2D75A0A80D}"/>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527C9F89-51CC-D243-9351-73AB081DB944}"/>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F09EE119-6C80-E846-95F9-BB3907664128}"/>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C0A681B-44BF-6A46-98D8-483EF13B9114}"/>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5A5D7C-EB12-9D4D-A99A-4B26C81B738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D4C3D74D-BE91-9547-ADCA-ACCE93C1878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0" name="Текст 35">
            <a:extLst>
              <a:ext uri="{FF2B5EF4-FFF2-40B4-BE49-F238E27FC236}">
                <a16:creationId xmlns:a16="http://schemas.microsoft.com/office/drawing/2014/main" id="{5812BF3C-1D24-3640-84D2-BFFCA525AE5F}"/>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BCBBDD44-9DC9-F74E-979F-120A7BBD4EE1}"/>
              </a:ext>
            </a:extLst>
          </p:cNvPr>
          <p:cNvSpPr>
            <a:spLocks noGrp="1"/>
          </p:cNvSpPr>
          <p:nvPr>
            <p:ph type="chart" sz="quarter" idx="10"/>
          </p:nvPr>
        </p:nvSpPr>
        <p:spPr>
          <a:xfrm>
            <a:off x="5272097" y="1447790"/>
            <a:ext cx="6371768" cy="4289457"/>
          </a:xfrm>
          <a:prstGeom prst="rect">
            <a:avLst/>
          </a:prstGeom>
        </p:spPr>
        <p:txBody>
          <a:bodyPr/>
          <a:lstStyle/>
          <a:p>
            <a:endParaRPr lang="ru-RU"/>
          </a:p>
        </p:txBody>
      </p:sp>
      <p:sp>
        <p:nvSpPr>
          <p:cNvPr id="23" name="Текст 22">
            <a:extLst>
              <a:ext uri="{FF2B5EF4-FFF2-40B4-BE49-F238E27FC236}">
                <a16:creationId xmlns:a16="http://schemas.microsoft.com/office/drawing/2014/main" id="{7C68DF7B-E804-E44B-83DF-5DC36AF76F43}"/>
              </a:ext>
            </a:extLst>
          </p:cNvPr>
          <p:cNvSpPr>
            <a:spLocks noGrp="1"/>
          </p:cNvSpPr>
          <p:nvPr>
            <p:ph type="body" sz="quarter" idx="17" hasCustomPrompt="1"/>
          </p:nvPr>
        </p:nvSpPr>
        <p:spPr>
          <a:xfrm>
            <a:off x="585788" y="1447064"/>
            <a:ext cx="4322762" cy="703205"/>
          </a:xfrm>
          <a:prstGeom prst="rect">
            <a:avLst/>
          </a:prstGeom>
        </p:spPr>
        <p:txBody>
          <a:bodyPr>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GB" sz="1600" dirty="0">
                <a:solidFill>
                  <a:srgbClr val="102D69"/>
                </a:solidFill>
                <a:latin typeface="HSE Sans" panose="02000000000000000000" pitchFamily="2" charset="0"/>
              </a:rPr>
              <a:t>Name of graph. Please note that table titles should be smaller than headlines (16 </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28" name="Текст 35">
            <a:extLst>
              <a:ext uri="{FF2B5EF4-FFF2-40B4-BE49-F238E27FC236}">
                <a16:creationId xmlns:a16="http://schemas.microsoft.com/office/drawing/2014/main" id="{89E931D8-2901-A54D-86EA-096E47B81880}"/>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6" name="Текст 37">
            <a:extLst>
              <a:ext uri="{FF2B5EF4-FFF2-40B4-BE49-F238E27FC236}">
                <a16:creationId xmlns:a16="http://schemas.microsoft.com/office/drawing/2014/main" id="{EB05FE86-9EEC-B64C-A6A4-0EF1E57F548F}"/>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8" name="Текст 39">
            <a:extLst>
              <a:ext uri="{FF2B5EF4-FFF2-40B4-BE49-F238E27FC236}">
                <a16:creationId xmlns:a16="http://schemas.microsoft.com/office/drawing/2014/main" id="{897B1CBC-D3E1-5F42-9E46-5C5D5982A1A4}"/>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9" name="Текст 39">
            <a:extLst>
              <a:ext uri="{FF2B5EF4-FFF2-40B4-BE49-F238E27FC236}">
                <a16:creationId xmlns:a16="http://schemas.microsoft.com/office/drawing/2014/main" id="{364269E6-245A-D54E-A8AD-14E29A03FAC1}"/>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764889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Цифры">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4" descr="Icon&#10;&#10;Description automatically generated">
            <a:extLst>
              <a:ext uri="{FF2B5EF4-FFF2-40B4-BE49-F238E27FC236}">
                <a16:creationId xmlns:a16="http://schemas.microsoft.com/office/drawing/2014/main" id="{E9A64721-E55E-8749-B29E-51DD8955936F}"/>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7" name="Straight Connector 19">
            <a:extLst>
              <a:ext uri="{FF2B5EF4-FFF2-40B4-BE49-F238E27FC236}">
                <a16:creationId xmlns:a16="http://schemas.microsoft.com/office/drawing/2014/main" id="{B0C162B7-B84F-874A-960E-31F512518C6E}"/>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1">
            <a:extLst>
              <a:ext uri="{FF2B5EF4-FFF2-40B4-BE49-F238E27FC236}">
                <a16:creationId xmlns:a16="http://schemas.microsoft.com/office/drawing/2014/main" id="{1CB321BB-9FE3-294F-85D8-AA7DC75CA4AF}"/>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5">
            <a:extLst>
              <a:ext uri="{FF2B5EF4-FFF2-40B4-BE49-F238E27FC236}">
                <a16:creationId xmlns:a16="http://schemas.microsoft.com/office/drawing/2014/main" id="{0A610A45-8712-8A45-AFB3-931CF468EC3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0460EF6-ECAD-8941-8132-1B3E005D606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1" name="Straight Connector 59">
            <a:extLst>
              <a:ext uri="{FF2B5EF4-FFF2-40B4-BE49-F238E27FC236}">
                <a16:creationId xmlns:a16="http://schemas.microsoft.com/office/drawing/2014/main" id="{41AE56A2-5FAA-FD44-AE1A-338E1E304184}"/>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Заголовок 31">
            <a:extLst>
              <a:ext uri="{FF2B5EF4-FFF2-40B4-BE49-F238E27FC236}">
                <a16:creationId xmlns:a16="http://schemas.microsoft.com/office/drawing/2014/main" id="{3B28B62E-5EE9-834C-9BB6-BD66079B8164}"/>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24" name="Текст 35">
            <a:extLst>
              <a:ext uri="{FF2B5EF4-FFF2-40B4-BE49-F238E27FC236}">
                <a16:creationId xmlns:a16="http://schemas.microsoft.com/office/drawing/2014/main" id="{621215DE-C1FD-2B4C-B236-AF679CF906BE}"/>
              </a:ext>
            </a:extLst>
          </p:cNvPr>
          <p:cNvSpPr>
            <a:spLocks noGrp="1"/>
          </p:cNvSpPr>
          <p:nvPr>
            <p:ph type="body" sz="quarter" idx="12" hasCustomPrompt="1"/>
          </p:nvPr>
        </p:nvSpPr>
        <p:spPr>
          <a:xfrm>
            <a:off x="575076" y="4103994"/>
            <a:ext cx="2758143"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5" name="Текст 35">
            <a:extLst>
              <a:ext uri="{FF2B5EF4-FFF2-40B4-BE49-F238E27FC236}">
                <a16:creationId xmlns:a16="http://schemas.microsoft.com/office/drawing/2014/main" id="{8BC2F90D-0CE0-574C-A7C1-EAA3E6F1AB56}"/>
              </a:ext>
            </a:extLst>
          </p:cNvPr>
          <p:cNvSpPr>
            <a:spLocks noGrp="1"/>
          </p:cNvSpPr>
          <p:nvPr>
            <p:ph type="body" sz="quarter" idx="16" hasCustomPrompt="1"/>
          </p:nvPr>
        </p:nvSpPr>
        <p:spPr>
          <a:xfrm>
            <a:off x="4047007" y="4103994"/>
            <a:ext cx="2757612"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6" name="Текст 35">
            <a:extLst>
              <a:ext uri="{FF2B5EF4-FFF2-40B4-BE49-F238E27FC236}">
                <a16:creationId xmlns:a16="http://schemas.microsoft.com/office/drawing/2014/main" id="{239E188B-2696-8A48-9F8A-36223EEF61E9}"/>
              </a:ext>
            </a:extLst>
          </p:cNvPr>
          <p:cNvSpPr>
            <a:spLocks noGrp="1"/>
          </p:cNvSpPr>
          <p:nvPr>
            <p:ph type="body" sz="quarter" idx="17" hasCustomPrompt="1"/>
          </p:nvPr>
        </p:nvSpPr>
        <p:spPr>
          <a:xfrm>
            <a:off x="7518938" y="4103994"/>
            <a:ext cx="2757612"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8" name="Текст 27">
            <a:extLst>
              <a:ext uri="{FF2B5EF4-FFF2-40B4-BE49-F238E27FC236}">
                <a16:creationId xmlns:a16="http://schemas.microsoft.com/office/drawing/2014/main" id="{379BF4C6-F899-294C-B88E-8363AFBEEC2A}"/>
              </a:ext>
            </a:extLst>
          </p:cNvPr>
          <p:cNvSpPr>
            <a:spLocks noGrp="1"/>
          </p:cNvSpPr>
          <p:nvPr>
            <p:ph type="body" sz="quarter" idx="18" hasCustomPrompt="1"/>
          </p:nvPr>
        </p:nvSpPr>
        <p:spPr>
          <a:xfrm>
            <a:off x="575076"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152</a:t>
            </a:r>
            <a:endParaRPr lang="ru-RU" dirty="0"/>
          </a:p>
        </p:txBody>
      </p:sp>
      <p:sp>
        <p:nvSpPr>
          <p:cNvPr id="29" name="Текст 27">
            <a:extLst>
              <a:ext uri="{FF2B5EF4-FFF2-40B4-BE49-F238E27FC236}">
                <a16:creationId xmlns:a16="http://schemas.microsoft.com/office/drawing/2014/main" id="{DE7F352B-F6D9-B545-A835-443A55956E74}"/>
              </a:ext>
            </a:extLst>
          </p:cNvPr>
          <p:cNvSpPr>
            <a:spLocks noGrp="1"/>
          </p:cNvSpPr>
          <p:nvPr>
            <p:ph type="body" sz="quarter" idx="19" hasCustomPrompt="1"/>
          </p:nvPr>
        </p:nvSpPr>
        <p:spPr>
          <a:xfrm>
            <a:off x="4047007"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95</a:t>
            </a:r>
            <a:endParaRPr lang="ru-RU" dirty="0"/>
          </a:p>
        </p:txBody>
      </p:sp>
      <p:sp>
        <p:nvSpPr>
          <p:cNvPr id="30" name="Текст 27">
            <a:extLst>
              <a:ext uri="{FF2B5EF4-FFF2-40B4-BE49-F238E27FC236}">
                <a16:creationId xmlns:a16="http://schemas.microsoft.com/office/drawing/2014/main" id="{D1D5AF9F-C1B0-7842-8789-1DB8963D981B}"/>
              </a:ext>
            </a:extLst>
          </p:cNvPr>
          <p:cNvSpPr>
            <a:spLocks noGrp="1"/>
          </p:cNvSpPr>
          <p:nvPr>
            <p:ph type="body" sz="quarter" idx="20" hasCustomPrompt="1"/>
          </p:nvPr>
        </p:nvSpPr>
        <p:spPr>
          <a:xfrm>
            <a:off x="7518938"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284</a:t>
            </a:r>
            <a:endParaRPr lang="ru-RU" dirty="0"/>
          </a:p>
        </p:txBody>
      </p:sp>
      <p:sp>
        <p:nvSpPr>
          <p:cNvPr id="18" name="Текст 37">
            <a:extLst>
              <a:ext uri="{FF2B5EF4-FFF2-40B4-BE49-F238E27FC236}">
                <a16:creationId xmlns:a16="http://schemas.microsoft.com/office/drawing/2014/main" id="{37B4962B-A5BA-AB4F-AFB3-5BF3A0AD0352}"/>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9" name="Текст 39">
            <a:extLst>
              <a:ext uri="{FF2B5EF4-FFF2-40B4-BE49-F238E27FC236}">
                <a16:creationId xmlns:a16="http://schemas.microsoft.com/office/drawing/2014/main" id="{78AD85C2-6CFD-A94C-8134-2B3392A33196}"/>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0" name="Текст 39">
            <a:extLst>
              <a:ext uri="{FF2B5EF4-FFF2-40B4-BE49-F238E27FC236}">
                <a16:creationId xmlns:a16="http://schemas.microsoft.com/office/drawing/2014/main" id="{C50CF571-E523-5440-B1C9-D74160206AED}"/>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2057052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Таблица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Icon&#10;&#10;Description automatically generated">
            <a:extLst>
              <a:ext uri="{FF2B5EF4-FFF2-40B4-BE49-F238E27FC236}">
                <a16:creationId xmlns:a16="http://schemas.microsoft.com/office/drawing/2014/main" id="{C5425806-16DD-844E-927C-26E7143A9ED8}"/>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6" name="Straight Connector 19">
            <a:extLst>
              <a:ext uri="{FF2B5EF4-FFF2-40B4-BE49-F238E27FC236}">
                <a16:creationId xmlns:a16="http://schemas.microsoft.com/office/drawing/2014/main" id="{479746FF-3282-DF46-9D7C-D80431604A55}"/>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7" name="Straight Connector 21">
            <a:extLst>
              <a:ext uri="{FF2B5EF4-FFF2-40B4-BE49-F238E27FC236}">
                <a16:creationId xmlns:a16="http://schemas.microsoft.com/office/drawing/2014/main" id="{51B44297-B0E7-D74D-B291-D39A0D468B42}"/>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5">
            <a:extLst>
              <a:ext uri="{FF2B5EF4-FFF2-40B4-BE49-F238E27FC236}">
                <a16:creationId xmlns:a16="http://schemas.microsoft.com/office/drawing/2014/main" id="{0EA4A057-F0CB-E04F-B472-4A1ABFB64C66}"/>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64502F5-56EE-354B-A3B1-E79F8B00517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0" name="Straight Connector 59">
            <a:extLst>
              <a:ext uri="{FF2B5EF4-FFF2-40B4-BE49-F238E27FC236}">
                <a16:creationId xmlns:a16="http://schemas.microsoft.com/office/drawing/2014/main" id="{A80E0956-5C10-CC40-A426-CBD2E0C4158E}"/>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5" name="Текст 22">
            <a:extLst>
              <a:ext uri="{FF2B5EF4-FFF2-40B4-BE49-F238E27FC236}">
                <a16:creationId xmlns:a16="http://schemas.microsoft.com/office/drawing/2014/main" id="{51340CB4-0355-3640-A212-F684523CDCCF}"/>
              </a:ext>
            </a:extLst>
          </p:cNvPr>
          <p:cNvSpPr>
            <a:spLocks noGrp="1"/>
          </p:cNvSpPr>
          <p:nvPr>
            <p:ph type="body" sz="quarter" idx="17" hasCustomPrompt="1"/>
          </p:nvPr>
        </p:nvSpPr>
        <p:spPr>
          <a:xfrm>
            <a:off x="585787" y="1447065"/>
            <a:ext cx="11058065" cy="307778"/>
          </a:xfrm>
          <a:prstGeom prst="rect">
            <a:avLst/>
          </a:prstGeo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US" sz="1600" dirty="0">
                <a:solidFill>
                  <a:srgbClr val="102D69"/>
                </a:solidFill>
                <a:latin typeface="HSE Sans" panose="02000000000000000000" pitchFamily="2" charset="0"/>
              </a:rPr>
              <a:t>Name of table</a:t>
            </a:r>
            <a:r>
              <a:rPr lang="ru-RU" sz="1600" dirty="0">
                <a:solidFill>
                  <a:srgbClr val="102D69"/>
                </a:solidFill>
                <a:latin typeface="HSE Sans" panose="02000000000000000000" pitchFamily="2" charset="0"/>
              </a:rPr>
              <a:t>. </a:t>
            </a:r>
            <a:r>
              <a:rPr lang="en-US" sz="1600" dirty="0">
                <a:solidFill>
                  <a:srgbClr val="102D69"/>
                </a:solidFill>
                <a:latin typeface="HSE Sans" panose="02000000000000000000" pitchFamily="2" charset="0"/>
              </a:rPr>
              <a:t>Please note that the name of the table should be smaller than headlines (16 </a:t>
            </a:r>
            <a:r>
              <a:rPr lang="en-US" sz="1600" dirty="0" err="1">
                <a:solidFill>
                  <a:srgbClr val="102D69"/>
                </a:solidFill>
                <a:latin typeface="HSE Sans" panose="02000000000000000000" pitchFamily="2" charset="0"/>
              </a:rPr>
              <a:t>pt</a:t>
            </a:r>
            <a:r>
              <a:rPr lang="en-US"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7" name="Текст 16">
            <a:extLst>
              <a:ext uri="{FF2B5EF4-FFF2-40B4-BE49-F238E27FC236}">
                <a16:creationId xmlns:a16="http://schemas.microsoft.com/office/drawing/2014/main" id="{8C6F2EA4-CEDC-324C-9C06-8713118041EB}"/>
              </a:ext>
            </a:extLst>
          </p:cNvPr>
          <p:cNvSpPr>
            <a:spLocks noGrp="1"/>
          </p:cNvSpPr>
          <p:nvPr>
            <p:ph type="body" sz="quarter" idx="18" hasCustomPrompt="1"/>
          </p:nvPr>
        </p:nvSpPr>
        <p:spPr>
          <a:xfrm>
            <a:off x="585788" y="5739189"/>
            <a:ext cx="6824303" cy="703205"/>
          </a:xfrm>
          <a:prstGeom prst="rect">
            <a:avLst/>
          </a:prstGeo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300" b="0" dirty="0">
                <a:ln>
                  <a:noFill/>
                </a:ln>
                <a:latin typeface="HSE Sans" panose="02000000000000000000" pitchFamily="2" charset="0"/>
              </a:rPr>
              <a:t>We recommend using bold face with due care; try using bold face for important information. </a:t>
            </a:r>
            <a:r>
              <a:rPr lang="en-US" sz="1300" dirty="0">
                <a:latin typeface="HSE Sans" panose="02000000000000000000" pitchFamily="2" charset="0"/>
              </a:rPr>
              <a:t>Also, try not to use bold face with cell shading; one feature should be sufficient.</a:t>
            </a:r>
            <a:endParaRPr lang="en-RU" sz="1300" b="0" dirty="0">
              <a:ln>
                <a:noFill/>
              </a:ln>
              <a:latin typeface="HSE Sans" panose="02000000000000000000" pitchFamily="2" charset="0"/>
            </a:endParaRPr>
          </a:p>
        </p:txBody>
      </p:sp>
      <p:sp>
        <p:nvSpPr>
          <p:cNvPr id="19" name="Таблица 18">
            <a:extLst>
              <a:ext uri="{FF2B5EF4-FFF2-40B4-BE49-F238E27FC236}">
                <a16:creationId xmlns:a16="http://schemas.microsoft.com/office/drawing/2014/main" id="{7B291085-A9B9-D842-B1A7-96258FAF012C}"/>
              </a:ext>
            </a:extLst>
          </p:cNvPr>
          <p:cNvSpPr>
            <a:spLocks noGrp="1"/>
          </p:cNvSpPr>
          <p:nvPr>
            <p:ph type="tbl" sz="quarter" idx="19"/>
          </p:nvPr>
        </p:nvSpPr>
        <p:spPr>
          <a:xfrm>
            <a:off x="585787" y="1984076"/>
            <a:ext cx="11058527" cy="3519576"/>
          </a:xfrm>
          <a:prstGeom prst="rect">
            <a:avLst/>
          </a:prstGeom>
        </p:spPr>
        <p:txBody>
          <a:bodyPr/>
          <a:lstStyle/>
          <a:p>
            <a:endParaRPr lang="ru-RU"/>
          </a:p>
        </p:txBody>
      </p:sp>
      <p:sp>
        <p:nvSpPr>
          <p:cNvPr id="16" name="Текст 37">
            <a:extLst>
              <a:ext uri="{FF2B5EF4-FFF2-40B4-BE49-F238E27FC236}">
                <a16:creationId xmlns:a16="http://schemas.microsoft.com/office/drawing/2014/main" id="{252B365F-6D89-0045-99CC-0F0D3EF2DA0F}"/>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8" name="Текст 39">
            <a:extLst>
              <a:ext uri="{FF2B5EF4-FFF2-40B4-BE49-F238E27FC236}">
                <a16:creationId xmlns:a16="http://schemas.microsoft.com/office/drawing/2014/main" id="{C9CC4AE0-EDCC-9A4F-97C4-4CAFF1F1EBCF}"/>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0" name="Текст 39">
            <a:extLst>
              <a:ext uri="{FF2B5EF4-FFF2-40B4-BE49-F238E27FC236}">
                <a16:creationId xmlns:a16="http://schemas.microsoft.com/office/drawing/2014/main" id="{185F6674-A1EC-1846-AEB5-DA4959807147}"/>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2440160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Таблица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259ABC72-D738-1143-BF2A-D85AE9A4F73B}"/>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237A1E42-2FC3-8841-8C41-992C5BC2368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47503EA0-3883-E24D-9EB8-7B617518292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E0144DF2-9891-324D-B34E-AFA025FBCBF9}"/>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33F65D6-1072-F140-B6A5-758D7B595A9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5F1F09D4-22FA-7B4B-9488-F8FDDCC2D44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8" name="Текст 22">
            <a:extLst>
              <a:ext uri="{FF2B5EF4-FFF2-40B4-BE49-F238E27FC236}">
                <a16:creationId xmlns:a16="http://schemas.microsoft.com/office/drawing/2014/main" id="{4D940599-2B77-CE47-91E6-CDB51ADE1840}"/>
              </a:ext>
            </a:extLst>
          </p:cNvPr>
          <p:cNvSpPr>
            <a:spLocks noGrp="1"/>
          </p:cNvSpPr>
          <p:nvPr>
            <p:ph type="body" sz="quarter" idx="17" hasCustomPrompt="1"/>
          </p:nvPr>
        </p:nvSpPr>
        <p:spPr>
          <a:xfrm>
            <a:off x="585787" y="1447064"/>
            <a:ext cx="7617877" cy="537011"/>
          </a:xfrm>
          <a:prstGeom prst="rect">
            <a:avLst/>
          </a:prstGeo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US" sz="1600" dirty="0">
                <a:solidFill>
                  <a:srgbClr val="102D69"/>
                </a:solidFill>
                <a:latin typeface="HSE Sans" panose="02000000000000000000" pitchFamily="2" charset="0"/>
              </a:rPr>
              <a:t>Name of table</a:t>
            </a:r>
            <a:r>
              <a:rPr lang="ru-RU" sz="1600" dirty="0">
                <a:solidFill>
                  <a:srgbClr val="102D69"/>
                </a:solidFill>
                <a:latin typeface="HSE Sans" panose="02000000000000000000" pitchFamily="2" charset="0"/>
              </a:rPr>
              <a:t>. </a:t>
            </a:r>
            <a:r>
              <a:rPr lang="en-US" sz="1600" dirty="0">
                <a:solidFill>
                  <a:srgbClr val="102D69"/>
                </a:solidFill>
                <a:latin typeface="HSE Sans" panose="02000000000000000000" pitchFamily="2" charset="0"/>
              </a:rPr>
              <a:t>Please note that the name of the table should be smaller than headlines (16 </a:t>
            </a:r>
            <a:r>
              <a:rPr lang="en-US" sz="1600" dirty="0" err="1">
                <a:solidFill>
                  <a:srgbClr val="102D69"/>
                </a:solidFill>
                <a:latin typeface="HSE Sans" panose="02000000000000000000" pitchFamily="2" charset="0"/>
              </a:rPr>
              <a:t>pt</a:t>
            </a:r>
            <a:r>
              <a:rPr lang="en-US"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9" name="Текст 16">
            <a:extLst>
              <a:ext uri="{FF2B5EF4-FFF2-40B4-BE49-F238E27FC236}">
                <a16:creationId xmlns:a16="http://schemas.microsoft.com/office/drawing/2014/main" id="{A7333712-9DED-4F4B-B209-2F13075EDB3F}"/>
              </a:ext>
            </a:extLst>
          </p:cNvPr>
          <p:cNvSpPr>
            <a:spLocks noGrp="1"/>
          </p:cNvSpPr>
          <p:nvPr>
            <p:ph type="body" sz="quarter" idx="18" hasCustomPrompt="1"/>
          </p:nvPr>
        </p:nvSpPr>
        <p:spPr>
          <a:xfrm>
            <a:off x="585788" y="5739189"/>
            <a:ext cx="6824303" cy="703205"/>
          </a:xfrm>
          <a:prstGeom prst="rect">
            <a:avLst/>
          </a:prstGeo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300" b="0" dirty="0">
                <a:ln>
                  <a:noFill/>
                </a:ln>
                <a:latin typeface="HSE Sans" panose="02000000000000000000" pitchFamily="2" charset="0"/>
              </a:rPr>
              <a:t>We recommend using bold face with due care; try using bold face for important information. </a:t>
            </a:r>
            <a:r>
              <a:rPr lang="en-US" sz="1300" dirty="0">
                <a:latin typeface="HSE Sans" panose="02000000000000000000" pitchFamily="2" charset="0"/>
              </a:rPr>
              <a:t>Also, try not to use bold face with cell shading; one feature should be sufficient.</a:t>
            </a:r>
            <a:endParaRPr lang="en-RU" sz="1300" b="0" dirty="0">
              <a:ln>
                <a:noFill/>
              </a:ln>
              <a:latin typeface="HSE Sans" panose="02000000000000000000" pitchFamily="2" charset="0"/>
            </a:endParaRPr>
          </a:p>
        </p:txBody>
      </p:sp>
      <p:sp>
        <p:nvSpPr>
          <p:cNvPr id="20" name="Таблица 18">
            <a:extLst>
              <a:ext uri="{FF2B5EF4-FFF2-40B4-BE49-F238E27FC236}">
                <a16:creationId xmlns:a16="http://schemas.microsoft.com/office/drawing/2014/main" id="{DD467C42-8209-B740-8419-DBB6A6F7D5EE}"/>
              </a:ext>
            </a:extLst>
          </p:cNvPr>
          <p:cNvSpPr>
            <a:spLocks noGrp="1"/>
          </p:cNvSpPr>
          <p:nvPr>
            <p:ph type="tbl" sz="quarter" idx="19"/>
          </p:nvPr>
        </p:nvSpPr>
        <p:spPr>
          <a:xfrm>
            <a:off x="585787" y="2208362"/>
            <a:ext cx="7617895" cy="3295290"/>
          </a:xfrm>
          <a:prstGeom prst="rect">
            <a:avLst/>
          </a:prstGeom>
        </p:spPr>
        <p:txBody>
          <a:bodyPr/>
          <a:lstStyle/>
          <a:p>
            <a:endParaRPr lang="ru-RU"/>
          </a:p>
        </p:txBody>
      </p:sp>
      <p:sp>
        <p:nvSpPr>
          <p:cNvPr id="21" name="Текст 35">
            <a:extLst>
              <a:ext uri="{FF2B5EF4-FFF2-40B4-BE49-F238E27FC236}">
                <a16:creationId xmlns:a16="http://schemas.microsoft.com/office/drawing/2014/main" id="{B4309850-76EA-224C-A9E2-B6BBDBF99DE2}"/>
              </a:ext>
            </a:extLst>
          </p:cNvPr>
          <p:cNvSpPr>
            <a:spLocks noGrp="1"/>
          </p:cNvSpPr>
          <p:nvPr>
            <p:ph type="body" sz="quarter" idx="12" hasCustomPrompt="1"/>
          </p:nvPr>
        </p:nvSpPr>
        <p:spPr>
          <a:xfrm>
            <a:off x="8686807" y="2208363"/>
            <a:ext cx="2930666" cy="2570672"/>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6" name="Текст 37">
            <a:extLst>
              <a:ext uri="{FF2B5EF4-FFF2-40B4-BE49-F238E27FC236}">
                <a16:creationId xmlns:a16="http://schemas.microsoft.com/office/drawing/2014/main" id="{6809E15B-CD0E-2F47-B500-B457A9CCBB37}"/>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2" name="Текст 39">
            <a:extLst>
              <a:ext uri="{FF2B5EF4-FFF2-40B4-BE49-F238E27FC236}">
                <a16:creationId xmlns:a16="http://schemas.microsoft.com/office/drawing/2014/main" id="{7E0B9771-35DC-D24C-B598-648DE6F8DE64}"/>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3" name="Текст 39">
            <a:extLst>
              <a:ext uri="{FF2B5EF4-FFF2-40B4-BE49-F238E27FC236}">
                <a16:creationId xmlns:a16="http://schemas.microsoft.com/office/drawing/2014/main" id="{5B1ACD18-BD14-2B4B-BA0A-46A5167E2C75}"/>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323677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цв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328428E-0D3D-6E4B-BAC0-3F63BAF7DB7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86CF47C6-D972-9E44-A717-6848F348939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412FEF63-77C0-7C4A-B9BE-4BC0EEEEB78C}"/>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C4F550E9-E979-284D-B65F-44E092DD9D0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A39D099-B515-F343-BF7A-A95468DA3860}"/>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396B1F99-9711-C64F-A7C9-4F1D89E7F11D}"/>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9" name="Заголовок 31">
            <a:extLst>
              <a:ext uri="{FF2B5EF4-FFF2-40B4-BE49-F238E27FC236}">
                <a16:creationId xmlns:a16="http://schemas.microsoft.com/office/drawing/2014/main" id="{1C20890C-BC1C-0745-9AF3-46700BA27C4A}"/>
              </a:ext>
            </a:extLst>
          </p:cNvPr>
          <p:cNvSpPr>
            <a:spLocks noGrp="1"/>
          </p:cNvSpPr>
          <p:nvPr>
            <p:ph type="title" hasCustomPrompt="1"/>
          </p:nvPr>
        </p:nvSpPr>
        <p:spPr>
          <a:xfrm>
            <a:off x="585899" y="1447790"/>
            <a:ext cx="432253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More </a:t>
            </a:r>
            <a:r>
              <a:rPr lang="en-US" sz="2400" dirty="0" err="1">
                <a:solidFill>
                  <a:srgbClr val="102D69"/>
                </a:solidFill>
                <a:latin typeface="HSE Sans" panose="02000000000000000000" pitchFamily="2" charset="0"/>
              </a:rPr>
              <a:t>colours</a:t>
            </a:r>
            <a:r>
              <a:rPr lang="en-US" sz="2400" dirty="0">
                <a:solidFill>
                  <a:srgbClr val="102D69"/>
                </a:solidFill>
                <a:latin typeface="HSE Sans" panose="02000000000000000000" pitchFamily="2" charset="0"/>
              </a:rPr>
              <a:t>: palette</a:t>
            </a:r>
            <a:endParaRPr lang="ru-RU" sz="2400" dirty="0">
              <a:solidFill>
                <a:srgbClr val="102D69"/>
              </a:solidFill>
              <a:latin typeface="HSE Sans" panose="02000000000000000000" pitchFamily="2" charset="0"/>
            </a:endParaRPr>
          </a:p>
        </p:txBody>
      </p:sp>
      <p:sp>
        <p:nvSpPr>
          <p:cNvPr id="20" name="Текст 35">
            <a:extLst>
              <a:ext uri="{FF2B5EF4-FFF2-40B4-BE49-F238E27FC236}">
                <a16:creationId xmlns:a16="http://schemas.microsoft.com/office/drawing/2014/main" id="{CA2589F7-4500-024F-8E07-D726629A599C}"/>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For tables, graphs , charts and diagrams, you may need to use additional </a:t>
            </a:r>
            <a:r>
              <a:rPr lang="en-US" sz="1300" dirty="0" err="1">
                <a:latin typeface="HSE Sans" panose="02000000000000000000" pitchFamily="2" charset="0"/>
              </a:rPr>
              <a:t>colours</a:t>
            </a:r>
            <a:r>
              <a:rPr lang="en-US" sz="1300" dirty="0">
                <a:latin typeface="HSE Sans" panose="02000000000000000000" pitchFamily="2" charset="0"/>
              </a:rPr>
              <a:t>; you may correctly ask what </a:t>
            </a:r>
            <a:r>
              <a:rPr lang="en-US" sz="1300" dirty="0" err="1">
                <a:latin typeface="HSE Sans" panose="02000000000000000000" pitchFamily="2" charset="0"/>
              </a:rPr>
              <a:t>colours</a:t>
            </a:r>
            <a:r>
              <a:rPr lang="en-US" sz="1300" dirty="0">
                <a:latin typeface="HSE Sans" panose="02000000000000000000" pitchFamily="2" charset="0"/>
              </a:rPr>
              <a:t> can be used and where to find them. We advise using HSE University’s official </a:t>
            </a:r>
            <a:r>
              <a:rPr lang="en-US" sz="1300" dirty="0" err="1">
                <a:latin typeface="HSE Sans" panose="02000000000000000000" pitchFamily="2" charset="0"/>
              </a:rPr>
              <a:t>colour</a:t>
            </a:r>
            <a:r>
              <a:rPr lang="en-US" sz="1300" dirty="0">
                <a:latin typeface="HSE Sans" panose="02000000000000000000" pitchFamily="2" charset="0"/>
              </a:rPr>
              <a:t> scheme for such purposes.</a:t>
            </a:r>
            <a:endParaRPr lang="ru-RU" sz="1300" dirty="0">
              <a:latin typeface="HSE Sans" panose="02000000000000000000" pitchFamily="2" charset="0"/>
            </a:endParaRPr>
          </a:p>
        </p:txBody>
      </p:sp>
      <p:sp>
        <p:nvSpPr>
          <p:cNvPr id="21" name="Oval 5">
            <a:extLst>
              <a:ext uri="{FF2B5EF4-FFF2-40B4-BE49-F238E27FC236}">
                <a16:creationId xmlns:a16="http://schemas.microsoft.com/office/drawing/2014/main" id="{D2CA403A-98E7-6C42-8F44-30AB6622C802}"/>
              </a:ext>
            </a:extLst>
          </p:cNvPr>
          <p:cNvSpPr/>
          <p:nvPr userDrawn="1"/>
        </p:nvSpPr>
        <p:spPr>
          <a:xfrm>
            <a:off x="5392982" y="1447790"/>
            <a:ext cx="830997" cy="830997"/>
          </a:xfrm>
          <a:prstGeom prst="ellipse">
            <a:avLst/>
          </a:prstGeom>
          <a:solidFill>
            <a:srgbClr val="0E2D6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2" name="Oval 20">
            <a:extLst>
              <a:ext uri="{FF2B5EF4-FFF2-40B4-BE49-F238E27FC236}">
                <a16:creationId xmlns:a16="http://schemas.microsoft.com/office/drawing/2014/main" id="{42ABAA5D-E7AB-6E48-9D43-A48178C9BDD4}"/>
              </a:ext>
            </a:extLst>
          </p:cNvPr>
          <p:cNvSpPr/>
          <p:nvPr userDrawn="1"/>
        </p:nvSpPr>
        <p:spPr>
          <a:xfrm>
            <a:off x="6742925" y="1447790"/>
            <a:ext cx="830997" cy="830997"/>
          </a:xfrm>
          <a:prstGeom prst="ellipse">
            <a:avLst/>
          </a:prstGeom>
          <a:solidFill>
            <a:srgbClr val="234A9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3" name="Oval 22">
            <a:extLst>
              <a:ext uri="{FF2B5EF4-FFF2-40B4-BE49-F238E27FC236}">
                <a16:creationId xmlns:a16="http://schemas.microsoft.com/office/drawing/2014/main" id="{209F185A-8F67-9C42-A7C5-87E483F4FC19}"/>
              </a:ext>
            </a:extLst>
          </p:cNvPr>
          <p:cNvSpPr/>
          <p:nvPr userDrawn="1"/>
        </p:nvSpPr>
        <p:spPr>
          <a:xfrm>
            <a:off x="8092868" y="1447790"/>
            <a:ext cx="830997" cy="830997"/>
          </a:xfrm>
          <a:prstGeom prst="ellipse">
            <a:avLst/>
          </a:prstGeom>
          <a:solidFill>
            <a:srgbClr val="11A0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4" name="Oval 23">
            <a:extLst>
              <a:ext uri="{FF2B5EF4-FFF2-40B4-BE49-F238E27FC236}">
                <a16:creationId xmlns:a16="http://schemas.microsoft.com/office/drawing/2014/main" id="{279AE0F6-4E37-6C4D-AF45-824EEE489A15}"/>
              </a:ext>
            </a:extLst>
          </p:cNvPr>
          <p:cNvSpPr/>
          <p:nvPr userDrawn="1"/>
        </p:nvSpPr>
        <p:spPr>
          <a:xfrm>
            <a:off x="9442811" y="1447790"/>
            <a:ext cx="830997" cy="830997"/>
          </a:xfrm>
          <a:prstGeom prst="ellipse">
            <a:avLst/>
          </a:prstGeom>
          <a:solidFill>
            <a:srgbClr val="029C6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5" name="Oval 26">
            <a:extLst>
              <a:ext uri="{FF2B5EF4-FFF2-40B4-BE49-F238E27FC236}">
                <a16:creationId xmlns:a16="http://schemas.microsoft.com/office/drawing/2014/main" id="{330C0EA4-7FD1-CE4D-AC95-8C484C5AC790}"/>
              </a:ext>
            </a:extLst>
          </p:cNvPr>
          <p:cNvSpPr/>
          <p:nvPr userDrawn="1"/>
        </p:nvSpPr>
        <p:spPr>
          <a:xfrm>
            <a:off x="10792754" y="1447790"/>
            <a:ext cx="830997" cy="830997"/>
          </a:xfrm>
          <a:prstGeom prst="ellipse">
            <a:avLst/>
          </a:prstGeom>
          <a:solidFill>
            <a:srgbClr val="EB68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6" name="Oval 29">
            <a:extLst>
              <a:ext uri="{FF2B5EF4-FFF2-40B4-BE49-F238E27FC236}">
                <a16:creationId xmlns:a16="http://schemas.microsoft.com/office/drawing/2014/main" id="{4C53CF3D-7EFB-DF4F-8EA6-5644574E9AFB}"/>
              </a:ext>
            </a:extLst>
          </p:cNvPr>
          <p:cNvSpPr/>
          <p:nvPr userDrawn="1"/>
        </p:nvSpPr>
        <p:spPr>
          <a:xfrm>
            <a:off x="5392982" y="2708699"/>
            <a:ext cx="830997" cy="830997"/>
          </a:xfrm>
          <a:prstGeom prst="ellipse">
            <a:avLst/>
          </a:prstGeom>
          <a:solidFill>
            <a:srgbClr val="7D4EB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7" name="Oval 33">
            <a:extLst>
              <a:ext uri="{FF2B5EF4-FFF2-40B4-BE49-F238E27FC236}">
                <a16:creationId xmlns:a16="http://schemas.microsoft.com/office/drawing/2014/main" id="{B42CE88A-E9A3-2A4E-BD50-EB37311F39EC}"/>
              </a:ext>
            </a:extLst>
          </p:cNvPr>
          <p:cNvSpPr/>
          <p:nvPr userDrawn="1"/>
        </p:nvSpPr>
        <p:spPr>
          <a:xfrm>
            <a:off x="6742925" y="2708699"/>
            <a:ext cx="830997" cy="830997"/>
          </a:xfrm>
          <a:prstGeom prst="ellipse">
            <a:avLst/>
          </a:prstGeom>
          <a:solidFill>
            <a:srgbClr val="E61F3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8" name="Oval 34">
            <a:extLst>
              <a:ext uri="{FF2B5EF4-FFF2-40B4-BE49-F238E27FC236}">
                <a16:creationId xmlns:a16="http://schemas.microsoft.com/office/drawing/2014/main" id="{B699EFDF-DB9D-3C4F-9D1F-461508017BDA}"/>
              </a:ext>
            </a:extLst>
          </p:cNvPr>
          <p:cNvSpPr/>
          <p:nvPr userDrawn="1"/>
        </p:nvSpPr>
        <p:spPr>
          <a:xfrm>
            <a:off x="8092868" y="2708699"/>
            <a:ext cx="830997" cy="830997"/>
          </a:xfrm>
          <a:prstGeom prst="ellipse">
            <a:avLst/>
          </a:prstGeom>
          <a:solidFill>
            <a:srgbClr val="FBBA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9" name="Oval 35">
            <a:extLst>
              <a:ext uri="{FF2B5EF4-FFF2-40B4-BE49-F238E27FC236}">
                <a16:creationId xmlns:a16="http://schemas.microsoft.com/office/drawing/2014/main" id="{5DF3131C-EEA1-5446-B567-C9DA0A2A1AFF}"/>
              </a:ext>
            </a:extLst>
          </p:cNvPr>
          <p:cNvSpPr/>
          <p:nvPr userDrawn="1"/>
        </p:nvSpPr>
        <p:spPr>
          <a:xfrm>
            <a:off x="9442811" y="2708699"/>
            <a:ext cx="830997" cy="830997"/>
          </a:xfrm>
          <a:prstGeom prst="ellipse">
            <a:avLst/>
          </a:prstGeom>
          <a:solidFill>
            <a:srgbClr val="7DA0D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0" name="Oval 36">
            <a:extLst>
              <a:ext uri="{FF2B5EF4-FFF2-40B4-BE49-F238E27FC236}">
                <a16:creationId xmlns:a16="http://schemas.microsoft.com/office/drawing/2014/main" id="{6D03B317-B61D-2945-8C0A-A6EBD87ACD07}"/>
              </a:ext>
            </a:extLst>
          </p:cNvPr>
          <p:cNvSpPr/>
          <p:nvPr userDrawn="1"/>
        </p:nvSpPr>
        <p:spPr>
          <a:xfrm>
            <a:off x="10792754" y="2708699"/>
            <a:ext cx="830997" cy="830997"/>
          </a:xfrm>
          <a:prstGeom prst="ellipse">
            <a:avLst/>
          </a:prstGeom>
          <a:solidFill>
            <a:srgbClr val="47A0A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1" name="Oval 37">
            <a:extLst>
              <a:ext uri="{FF2B5EF4-FFF2-40B4-BE49-F238E27FC236}">
                <a16:creationId xmlns:a16="http://schemas.microsoft.com/office/drawing/2014/main" id="{9C0266F1-C0B7-624A-A873-5F2C8801E766}"/>
              </a:ext>
            </a:extLst>
          </p:cNvPr>
          <p:cNvSpPr/>
          <p:nvPr userDrawn="1"/>
        </p:nvSpPr>
        <p:spPr>
          <a:xfrm>
            <a:off x="5392982" y="3969609"/>
            <a:ext cx="830997" cy="830997"/>
          </a:xfrm>
          <a:prstGeom prst="ellipse">
            <a:avLst/>
          </a:prstGeom>
          <a:solidFill>
            <a:srgbClr val="EB8C3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2" name="Oval 38">
            <a:extLst>
              <a:ext uri="{FF2B5EF4-FFF2-40B4-BE49-F238E27FC236}">
                <a16:creationId xmlns:a16="http://schemas.microsoft.com/office/drawing/2014/main" id="{30C0C10E-388C-9843-8270-19D471BD3756}"/>
              </a:ext>
            </a:extLst>
          </p:cNvPr>
          <p:cNvSpPr/>
          <p:nvPr userDrawn="1"/>
        </p:nvSpPr>
        <p:spPr>
          <a:xfrm>
            <a:off x="6742925" y="3969609"/>
            <a:ext cx="830997" cy="830997"/>
          </a:xfrm>
          <a:prstGeom prst="ellipse">
            <a:avLst/>
          </a:prstGeom>
          <a:solidFill>
            <a:srgbClr val="96628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3" name="Oval 39">
            <a:extLst>
              <a:ext uri="{FF2B5EF4-FFF2-40B4-BE49-F238E27FC236}">
                <a16:creationId xmlns:a16="http://schemas.microsoft.com/office/drawing/2014/main" id="{87047EA3-79D2-8644-A568-E64AA1D7D370}"/>
              </a:ext>
            </a:extLst>
          </p:cNvPr>
          <p:cNvSpPr/>
          <p:nvPr userDrawn="1"/>
        </p:nvSpPr>
        <p:spPr>
          <a:xfrm>
            <a:off x="8092868" y="3969609"/>
            <a:ext cx="830997" cy="830997"/>
          </a:xfrm>
          <a:prstGeom prst="ellipse">
            <a:avLst/>
          </a:prstGeom>
          <a:solidFill>
            <a:srgbClr val="CD5A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4" name="Oval 40">
            <a:extLst>
              <a:ext uri="{FF2B5EF4-FFF2-40B4-BE49-F238E27FC236}">
                <a16:creationId xmlns:a16="http://schemas.microsoft.com/office/drawing/2014/main" id="{7F5D1C6B-4E6B-0346-A5DC-C511DB14EFD6}"/>
              </a:ext>
            </a:extLst>
          </p:cNvPr>
          <p:cNvSpPr/>
          <p:nvPr userDrawn="1"/>
        </p:nvSpPr>
        <p:spPr>
          <a:xfrm>
            <a:off x="9442811" y="3969609"/>
            <a:ext cx="830997" cy="830997"/>
          </a:xfrm>
          <a:prstGeom prst="ellipse">
            <a:avLst/>
          </a:prstGeom>
          <a:solidFill>
            <a:srgbClr val="FFD74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5" name="Oval 41">
            <a:extLst>
              <a:ext uri="{FF2B5EF4-FFF2-40B4-BE49-F238E27FC236}">
                <a16:creationId xmlns:a16="http://schemas.microsoft.com/office/drawing/2014/main" id="{EB421DBA-35DE-2C4F-A89E-27F0998EF4E8}"/>
              </a:ext>
            </a:extLst>
          </p:cNvPr>
          <p:cNvSpPr/>
          <p:nvPr userDrawn="1"/>
        </p:nvSpPr>
        <p:spPr>
          <a:xfrm>
            <a:off x="10792754" y="3969609"/>
            <a:ext cx="830997" cy="830997"/>
          </a:xfrm>
          <a:prstGeom prst="ellipse">
            <a:avLst/>
          </a:prstGeom>
          <a:solidFill>
            <a:srgbClr val="CDDDF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6" name="Oval 42">
            <a:extLst>
              <a:ext uri="{FF2B5EF4-FFF2-40B4-BE49-F238E27FC236}">
                <a16:creationId xmlns:a16="http://schemas.microsoft.com/office/drawing/2014/main" id="{081BD842-A9A1-5B44-81ED-A97BA390032B}"/>
              </a:ext>
            </a:extLst>
          </p:cNvPr>
          <p:cNvSpPr/>
          <p:nvPr userDrawn="1"/>
        </p:nvSpPr>
        <p:spPr>
          <a:xfrm>
            <a:off x="5392982" y="5249769"/>
            <a:ext cx="830997" cy="830997"/>
          </a:xfrm>
          <a:prstGeom prst="ellipse">
            <a:avLst/>
          </a:prstGeom>
          <a:solidFill>
            <a:srgbClr val="D7EBB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7" name="Oval 43">
            <a:extLst>
              <a:ext uri="{FF2B5EF4-FFF2-40B4-BE49-F238E27FC236}">
                <a16:creationId xmlns:a16="http://schemas.microsoft.com/office/drawing/2014/main" id="{036EE7D2-A33A-434C-B272-C82E2CDD4D4D}"/>
              </a:ext>
            </a:extLst>
          </p:cNvPr>
          <p:cNvSpPr/>
          <p:nvPr userDrawn="1"/>
        </p:nvSpPr>
        <p:spPr>
          <a:xfrm>
            <a:off x="6742925" y="5249769"/>
            <a:ext cx="830997" cy="830997"/>
          </a:xfrm>
          <a:prstGeom prst="ellipse">
            <a:avLst/>
          </a:prstGeom>
          <a:solidFill>
            <a:srgbClr val="FFDC9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8" name="Oval 44">
            <a:extLst>
              <a:ext uri="{FF2B5EF4-FFF2-40B4-BE49-F238E27FC236}">
                <a16:creationId xmlns:a16="http://schemas.microsoft.com/office/drawing/2014/main" id="{7DD65DA4-F076-C242-813E-8C17DCABCCFB}"/>
              </a:ext>
            </a:extLst>
          </p:cNvPr>
          <p:cNvSpPr/>
          <p:nvPr userDrawn="1"/>
        </p:nvSpPr>
        <p:spPr>
          <a:xfrm>
            <a:off x="8092868" y="5249769"/>
            <a:ext cx="830997" cy="830997"/>
          </a:xfrm>
          <a:prstGeom prst="ellipse">
            <a:avLst/>
          </a:prstGeom>
          <a:solidFill>
            <a:srgbClr val="D7C3F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9" name="Oval 45">
            <a:extLst>
              <a:ext uri="{FF2B5EF4-FFF2-40B4-BE49-F238E27FC236}">
                <a16:creationId xmlns:a16="http://schemas.microsoft.com/office/drawing/2014/main" id="{8A44D99D-BF66-2848-B460-F59D8ECF5690}"/>
              </a:ext>
            </a:extLst>
          </p:cNvPr>
          <p:cNvSpPr/>
          <p:nvPr userDrawn="1"/>
        </p:nvSpPr>
        <p:spPr>
          <a:xfrm>
            <a:off x="9442811" y="5249769"/>
            <a:ext cx="830997" cy="830997"/>
          </a:xfrm>
          <a:prstGeom prst="ellipse">
            <a:avLst/>
          </a:prstGeom>
          <a:solidFill>
            <a:srgbClr val="F6C3C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0" name="Oval 46">
            <a:extLst>
              <a:ext uri="{FF2B5EF4-FFF2-40B4-BE49-F238E27FC236}">
                <a16:creationId xmlns:a16="http://schemas.microsoft.com/office/drawing/2014/main" id="{9B130CEB-3D74-B647-BA6B-32F7D70FD354}"/>
              </a:ext>
            </a:extLst>
          </p:cNvPr>
          <p:cNvSpPr/>
          <p:nvPr userDrawn="1"/>
        </p:nvSpPr>
        <p:spPr>
          <a:xfrm>
            <a:off x="10792754" y="5249769"/>
            <a:ext cx="830997" cy="830997"/>
          </a:xfrm>
          <a:prstGeom prst="ellipse">
            <a:avLst/>
          </a:prstGeom>
          <a:solidFill>
            <a:srgbClr val="FFF07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1" name="Текст 37">
            <a:extLst>
              <a:ext uri="{FF2B5EF4-FFF2-40B4-BE49-F238E27FC236}">
                <a16:creationId xmlns:a16="http://schemas.microsoft.com/office/drawing/2014/main" id="{800F6957-CEFF-924E-B258-5B51A5196DEB}"/>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42" name="Текст 39">
            <a:extLst>
              <a:ext uri="{FF2B5EF4-FFF2-40B4-BE49-F238E27FC236}">
                <a16:creationId xmlns:a16="http://schemas.microsoft.com/office/drawing/2014/main" id="{8FD4982C-EBD6-6D4D-A16B-212CB048938C}"/>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43" name="Текст 39">
            <a:extLst>
              <a:ext uri="{FF2B5EF4-FFF2-40B4-BE49-F238E27FC236}">
                <a16:creationId xmlns:a16="http://schemas.microsoft.com/office/drawing/2014/main" id="{733D5CDE-163B-C148-A20F-A808E0652336}"/>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3867054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чистый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A7FA04E4-3213-8F41-B068-4DC28144142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938052A0-3DF0-DC47-B7E0-C20EF981C230}"/>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8C6147F0-3CA1-264C-B2B2-F88597196943}"/>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2CDF50E-4D58-AF4A-ABFD-140AF88B3681}"/>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2171D1-2A5B-7A4A-9760-17CCE51B980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3C71A0C3-CD3E-0748-98E5-6B2507CAB296}"/>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0" name="Текст 37">
            <a:extLst>
              <a:ext uri="{FF2B5EF4-FFF2-40B4-BE49-F238E27FC236}">
                <a16:creationId xmlns:a16="http://schemas.microsoft.com/office/drawing/2014/main" id="{C0A1CB46-D6D6-5E48-B4F7-CCED4525C46F}"/>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1" name="Текст 39">
            <a:extLst>
              <a:ext uri="{FF2B5EF4-FFF2-40B4-BE49-F238E27FC236}">
                <a16:creationId xmlns:a16="http://schemas.microsoft.com/office/drawing/2014/main" id="{25D35A19-1AA8-204A-BFCA-83B65D59CFF4}"/>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2" name="Текст 39">
            <a:extLst>
              <a:ext uri="{FF2B5EF4-FFF2-40B4-BE49-F238E27FC236}">
                <a16:creationId xmlns:a16="http://schemas.microsoft.com/office/drawing/2014/main" id="{3557077C-F503-0B4A-82A2-54D21547E589}"/>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319520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чисты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9D694F-3582-1641-94D9-87F2A3453FC3}"/>
              </a:ext>
            </a:extLst>
          </p:cNvPr>
          <p:cNvSpPr/>
          <p:nvPr userDrawn="1"/>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RU"/>
          </a:p>
        </p:txBody>
      </p:sp>
      <p:pic>
        <p:nvPicPr>
          <p:cNvPr id="4" name="Picture 3" descr="A blue circle with white text&#10;&#10;Description automatically generated with low confidence">
            <a:extLst>
              <a:ext uri="{FF2B5EF4-FFF2-40B4-BE49-F238E27FC236}">
                <a16:creationId xmlns:a16="http://schemas.microsoft.com/office/drawing/2014/main" id="{CFAE9005-17A7-5047-B315-642E9FB4F328}"/>
              </a:ext>
            </a:extLst>
          </p:cNvPr>
          <p:cNvPicPr>
            <a:picLocks noChangeAspect="1"/>
          </p:cNvPicPr>
          <p:nvPr userDrawn="1"/>
        </p:nvPicPr>
        <p:blipFill>
          <a:blip r:embed="rId3"/>
          <a:stretch>
            <a:fillRect/>
          </a:stretch>
        </p:blipFill>
        <p:spPr>
          <a:xfrm>
            <a:off x="5310809" y="2643809"/>
            <a:ext cx="1570383" cy="1570383"/>
          </a:xfrm>
          <a:prstGeom prst="rect">
            <a:avLst/>
          </a:prstGeom>
        </p:spPr>
      </p:pic>
    </p:spTree>
    <p:extLst>
      <p:ext uri="{BB962C8B-B14F-4D97-AF65-F5344CB8AC3E}">
        <p14:creationId xmlns:p14="http://schemas.microsoft.com/office/powerpoint/2010/main" val="1387064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850601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51" r:id="rId5"/>
    <p:sldLayoutId id="2147483652" r:id="rId6"/>
    <p:sldLayoutId id="2147483654" r:id="rId7"/>
    <p:sldLayoutId id="2147483655" r:id="rId8"/>
    <p:sldLayoutId id="2147483656" r:id="rId9"/>
    <p:sldLayoutId id="2147483658" r:id="rId10"/>
    <p:sldLayoutId id="2147483657"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disk.360.yandex.ru/i/YHk8U5C9g4nFzA"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757A51-BBC2-9047-B199-AE90EB17B4D4}"/>
              </a:ext>
            </a:extLst>
          </p:cNvPr>
          <p:cNvSpPr>
            <a:spLocks noGrp="1"/>
          </p:cNvSpPr>
          <p:nvPr>
            <p:ph type="title"/>
          </p:nvPr>
        </p:nvSpPr>
        <p:spPr/>
        <p:txBody>
          <a:bodyPr/>
          <a:lstStyle/>
          <a:p>
            <a:r>
              <a:rPr lang="en-US" dirty="0"/>
              <a:t>Russian History</a:t>
            </a:r>
            <a:br>
              <a:rPr lang="en-US" dirty="0"/>
            </a:br>
            <a:endParaRPr lang="ru-RU" dirty="0"/>
          </a:p>
        </p:txBody>
      </p:sp>
      <p:sp>
        <p:nvSpPr>
          <p:cNvPr id="6" name="Текст 5">
            <a:extLst>
              <a:ext uri="{FF2B5EF4-FFF2-40B4-BE49-F238E27FC236}">
                <a16:creationId xmlns:a16="http://schemas.microsoft.com/office/drawing/2014/main" id="{B32B7800-48A3-394E-A464-7BA3AE15CECB}"/>
              </a:ext>
            </a:extLst>
          </p:cNvPr>
          <p:cNvSpPr>
            <a:spLocks noGrp="1"/>
          </p:cNvSpPr>
          <p:nvPr>
            <p:ph type="body" sz="quarter" idx="13"/>
          </p:nvPr>
        </p:nvSpPr>
        <p:spPr>
          <a:xfrm>
            <a:off x="1027967" y="4595446"/>
            <a:ext cx="7625267" cy="882328"/>
          </a:xfrm>
        </p:spPr>
        <p:txBody>
          <a:bodyPr>
            <a:normAutofit/>
          </a:bodyPr>
          <a:lstStyle/>
          <a:p>
            <a:r>
              <a:rPr lang="en-US" dirty="0"/>
              <a:t>1</a:t>
            </a:r>
            <a:r>
              <a:rPr lang="en-US" baseline="30000" dirty="0"/>
              <a:t>st</a:t>
            </a:r>
            <a:r>
              <a:rPr lang="en-US" dirty="0"/>
              <a:t> seminar </a:t>
            </a:r>
            <a:br>
              <a:rPr lang="en-US" dirty="0"/>
            </a:br>
            <a:r>
              <a:rPr lang="en-US" dirty="0"/>
              <a:t>Senior Lecturer</a:t>
            </a:r>
          </a:p>
          <a:p>
            <a:r>
              <a:rPr lang="en-US" dirty="0" err="1"/>
              <a:t>Aksenova</a:t>
            </a:r>
            <a:r>
              <a:rPr lang="en-US" dirty="0"/>
              <a:t> Maria </a:t>
            </a:r>
            <a:r>
              <a:rPr lang="en-US" dirty="0" err="1"/>
              <a:t>Dmitrievna</a:t>
            </a:r>
            <a:endParaRPr lang="ru-RU" dirty="0"/>
          </a:p>
        </p:txBody>
      </p:sp>
    </p:spTree>
    <p:extLst>
      <p:ext uri="{BB962C8B-B14F-4D97-AF65-F5344CB8AC3E}">
        <p14:creationId xmlns:p14="http://schemas.microsoft.com/office/powerpoint/2010/main" val="1452210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a:xfrm>
            <a:off x="514027" y="936347"/>
            <a:ext cx="5245560" cy="777025"/>
          </a:xfrm>
        </p:spPr>
        <p:txBody>
          <a:bodyPr>
            <a:normAutofit/>
          </a:bodyPr>
          <a:lstStyle/>
          <a:p>
            <a:r>
              <a:rPr lang="en-US" sz="3600" dirty="0"/>
              <a:t>Structure</a:t>
            </a:r>
            <a:endParaRPr lang="ru-RU" sz="3600" dirty="0"/>
          </a:p>
        </p:txBody>
      </p:sp>
      <p:sp>
        <p:nvSpPr>
          <p:cNvPr id="4" name="Текст 3">
            <a:extLst>
              <a:ext uri="{FF2B5EF4-FFF2-40B4-BE49-F238E27FC236}">
                <a16:creationId xmlns:a16="http://schemas.microsoft.com/office/drawing/2014/main" id="{985EFA28-570A-F647-B2F7-A43359726B4F}"/>
              </a:ext>
            </a:extLst>
          </p:cNvPr>
          <p:cNvSpPr>
            <a:spLocks noGrp="1"/>
          </p:cNvSpPr>
          <p:nvPr>
            <p:ph type="body" sz="quarter" idx="12"/>
          </p:nvPr>
        </p:nvSpPr>
        <p:spPr>
          <a:xfrm>
            <a:off x="514027" y="1713372"/>
            <a:ext cx="11342176" cy="4873408"/>
          </a:xfrm>
        </p:spPr>
        <p:txBody>
          <a:bodyPr>
            <a:normAutofit fontScale="92500" lnSpcReduction="10000"/>
          </a:bodyPr>
          <a:lstStyle/>
          <a:p>
            <a:r>
              <a:rPr lang="ru-RU" sz="2400" dirty="0"/>
              <a:t>1-4 </a:t>
            </a:r>
            <a:r>
              <a:rPr lang="en-US" sz="2400" dirty="0"/>
              <a:t>module</a:t>
            </a:r>
            <a:endParaRPr lang="ru-RU" sz="2400" dirty="0"/>
          </a:p>
          <a:p>
            <a:r>
              <a:rPr lang="ru-RU" sz="2400" b="1" dirty="0"/>
              <a:t>30 </a:t>
            </a:r>
            <a:r>
              <a:rPr lang="en-US" sz="2400" b="1" dirty="0"/>
              <a:t>seminars</a:t>
            </a:r>
            <a:r>
              <a:rPr lang="ru-RU" sz="2400" b="1" dirty="0"/>
              <a:t>:</a:t>
            </a:r>
          </a:p>
          <a:p>
            <a:r>
              <a:rPr lang="ru-RU" sz="2400" dirty="0"/>
              <a:t>6 </a:t>
            </a:r>
            <a:r>
              <a:rPr lang="en-US" sz="2400" dirty="0"/>
              <a:t>seminars</a:t>
            </a:r>
            <a:r>
              <a:rPr lang="ru-RU" sz="2400" dirty="0"/>
              <a:t> – </a:t>
            </a:r>
            <a:r>
              <a:rPr lang="en-US" sz="2400" dirty="0"/>
              <a:t>1</a:t>
            </a:r>
            <a:r>
              <a:rPr lang="en-US" sz="2400" baseline="30000" dirty="0"/>
              <a:t>st</a:t>
            </a:r>
            <a:r>
              <a:rPr lang="en-US" sz="2400" dirty="0"/>
              <a:t> module</a:t>
            </a:r>
            <a:endParaRPr lang="ru-RU" sz="2400" dirty="0"/>
          </a:p>
          <a:p>
            <a:r>
              <a:rPr lang="ru-RU" sz="2400" dirty="0"/>
              <a:t>8 </a:t>
            </a:r>
            <a:r>
              <a:rPr lang="en-US" sz="2400" dirty="0"/>
              <a:t>seminars</a:t>
            </a:r>
            <a:r>
              <a:rPr lang="ru-RU" sz="2400" dirty="0"/>
              <a:t> – </a:t>
            </a:r>
            <a:r>
              <a:rPr lang="en-US" sz="2400" dirty="0"/>
              <a:t>2</a:t>
            </a:r>
            <a:r>
              <a:rPr lang="en-US" sz="2400" baseline="30000" dirty="0"/>
              <a:t>nd</a:t>
            </a:r>
            <a:r>
              <a:rPr lang="en-US" sz="2400" dirty="0"/>
              <a:t> module</a:t>
            </a:r>
            <a:endParaRPr lang="ru-RU" sz="2400" dirty="0"/>
          </a:p>
          <a:p>
            <a:r>
              <a:rPr lang="ru-RU" sz="2400" dirty="0"/>
              <a:t>9 </a:t>
            </a:r>
            <a:r>
              <a:rPr lang="en-US" sz="2400" dirty="0"/>
              <a:t>seminars</a:t>
            </a:r>
            <a:r>
              <a:rPr lang="ru-RU" sz="2400" dirty="0"/>
              <a:t> – </a:t>
            </a:r>
            <a:r>
              <a:rPr lang="en-US" sz="2400" dirty="0"/>
              <a:t>3</a:t>
            </a:r>
            <a:r>
              <a:rPr lang="en-US" sz="2400" baseline="30000" dirty="0"/>
              <a:t>rd</a:t>
            </a:r>
            <a:r>
              <a:rPr lang="en-US" sz="2400" dirty="0"/>
              <a:t> module</a:t>
            </a:r>
            <a:endParaRPr lang="ru-RU" sz="2400" dirty="0"/>
          </a:p>
          <a:p>
            <a:r>
              <a:rPr lang="ru-RU" sz="2400" dirty="0"/>
              <a:t>7 </a:t>
            </a:r>
            <a:r>
              <a:rPr lang="en-US" sz="2400" dirty="0"/>
              <a:t>seminars</a:t>
            </a:r>
            <a:r>
              <a:rPr lang="ru-RU" sz="2400" dirty="0"/>
              <a:t> – </a:t>
            </a:r>
            <a:r>
              <a:rPr lang="en-US" sz="2400" dirty="0"/>
              <a:t>4</a:t>
            </a:r>
            <a:r>
              <a:rPr lang="en-US" sz="2400" baseline="30000" dirty="0"/>
              <a:t>th</a:t>
            </a:r>
            <a:r>
              <a:rPr lang="en-US" sz="2400" dirty="0"/>
              <a:t> module</a:t>
            </a:r>
            <a:endParaRPr lang="ru-RU" sz="2400" dirty="0"/>
          </a:p>
          <a:p>
            <a:r>
              <a:rPr lang="ru-RU" sz="2400" b="1" dirty="0"/>
              <a:t>22 </a:t>
            </a:r>
            <a:r>
              <a:rPr lang="en-US" sz="2400" b="1" dirty="0"/>
              <a:t>lectures</a:t>
            </a:r>
            <a:r>
              <a:rPr lang="ru-RU" sz="2400" b="1" dirty="0"/>
              <a:t>:</a:t>
            </a:r>
          </a:p>
          <a:p>
            <a:r>
              <a:rPr lang="en-US" sz="2400" dirty="0"/>
              <a:t>Online-course in </a:t>
            </a:r>
            <a:r>
              <a:rPr lang="en-US" sz="2400" dirty="0" err="1"/>
              <a:t>SmartLMS</a:t>
            </a:r>
            <a:endParaRPr lang="ru-RU" sz="2400" dirty="0"/>
          </a:p>
          <a:p>
            <a:r>
              <a:rPr lang="ru-RU" sz="2400" b="1" dirty="0"/>
              <a:t>8 </a:t>
            </a:r>
            <a:r>
              <a:rPr lang="en-US" sz="2400" b="1" dirty="0"/>
              <a:t>lectures by teacher</a:t>
            </a:r>
            <a:r>
              <a:rPr lang="ru-RU" sz="2400" b="1" dirty="0"/>
              <a:t>:</a:t>
            </a:r>
          </a:p>
          <a:p>
            <a:r>
              <a:rPr lang="ru-RU" sz="2400" dirty="0"/>
              <a:t>3 </a:t>
            </a:r>
            <a:r>
              <a:rPr lang="en-US" sz="2400" dirty="0"/>
              <a:t>lectures</a:t>
            </a:r>
            <a:r>
              <a:rPr lang="ru-RU" sz="2400" dirty="0"/>
              <a:t> – </a:t>
            </a:r>
            <a:r>
              <a:rPr lang="en-US" sz="2400" dirty="0"/>
              <a:t>3</a:t>
            </a:r>
            <a:r>
              <a:rPr lang="en-US" sz="2400" baseline="30000" dirty="0"/>
              <a:t>rd</a:t>
            </a:r>
            <a:r>
              <a:rPr lang="en-US" sz="2400" dirty="0"/>
              <a:t> module</a:t>
            </a:r>
            <a:endParaRPr lang="ru-RU" sz="2400" dirty="0"/>
          </a:p>
          <a:p>
            <a:r>
              <a:rPr lang="ru-RU" sz="2400" dirty="0"/>
              <a:t>5 </a:t>
            </a:r>
            <a:r>
              <a:rPr lang="en-US" sz="2400" dirty="0"/>
              <a:t>lectures</a:t>
            </a:r>
            <a:r>
              <a:rPr lang="ru-RU" sz="2400" dirty="0"/>
              <a:t> – </a:t>
            </a:r>
            <a:r>
              <a:rPr lang="en-US" sz="2400" dirty="0"/>
              <a:t>4</a:t>
            </a:r>
            <a:r>
              <a:rPr lang="en-US" sz="2400" baseline="30000" dirty="0"/>
              <a:t>th</a:t>
            </a:r>
            <a:r>
              <a:rPr lang="en-US" sz="2400" dirty="0"/>
              <a:t> module</a:t>
            </a:r>
            <a:endParaRPr lang="ru-RU" sz="2400" dirty="0"/>
          </a:p>
          <a:p>
            <a:endParaRPr lang="ru-RU" sz="2400" b="1" dirty="0">
              <a:highlight>
                <a:srgbClr val="FFFF00"/>
              </a:highlight>
            </a:endParaRPr>
          </a:p>
          <a:p>
            <a:endParaRPr lang="en-US" sz="2400" b="1" dirty="0">
              <a:highlight>
                <a:srgbClr val="FFFF00"/>
              </a:highlight>
            </a:endParaRPr>
          </a:p>
          <a:p>
            <a:endParaRPr lang="ru-RU" sz="2400" b="1" dirty="0">
              <a:highlight>
                <a:srgbClr val="FFFF00"/>
              </a:highlight>
            </a:endParaRPr>
          </a:p>
        </p:txBody>
      </p:sp>
      <p:sp>
        <p:nvSpPr>
          <p:cNvPr id="5" name="TextBox 4">
            <a:extLst>
              <a:ext uri="{FF2B5EF4-FFF2-40B4-BE49-F238E27FC236}">
                <a16:creationId xmlns:a16="http://schemas.microsoft.com/office/drawing/2014/main" id="{80D9A684-DC2D-E945-1CA1-BF072329EC93}"/>
              </a:ext>
            </a:extLst>
          </p:cNvPr>
          <p:cNvSpPr txBox="1"/>
          <p:nvPr/>
        </p:nvSpPr>
        <p:spPr>
          <a:xfrm>
            <a:off x="6494585" y="6207762"/>
            <a:ext cx="6096000" cy="369332"/>
          </a:xfrm>
          <a:prstGeom prst="rect">
            <a:avLst/>
          </a:prstGeom>
          <a:noFill/>
        </p:spPr>
        <p:txBody>
          <a:bodyPr wrap="square">
            <a:spAutoFit/>
          </a:bodyPr>
          <a:lstStyle/>
          <a:p>
            <a:r>
              <a:rPr lang="ru-RU" dirty="0">
                <a:hlinkClick r:id="rId2"/>
              </a:rPr>
              <a:t>https://disk.360.yandex.ru/i/YHk8U5C9g4nFzA</a:t>
            </a:r>
            <a:r>
              <a:rPr lang="en-US" dirty="0"/>
              <a:t> </a:t>
            </a:r>
            <a:endParaRPr lang="ru-RU" dirty="0"/>
          </a:p>
        </p:txBody>
      </p:sp>
      <p:pic>
        <p:nvPicPr>
          <p:cNvPr id="8" name="Рисунок 7">
            <a:extLst>
              <a:ext uri="{FF2B5EF4-FFF2-40B4-BE49-F238E27FC236}">
                <a16:creationId xmlns:a16="http://schemas.microsoft.com/office/drawing/2014/main" id="{FBE25998-4610-C5F5-9249-41A088F1580D}"/>
              </a:ext>
            </a:extLst>
          </p:cNvPr>
          <p:cNvPicPr>
            <a:picLocks noChangeAspect="1"/>
          </p:cNvPicPr>
          <p:nvPr/>
        </p:nvPicPr>
        <p:blipFill>
          <a:blip r:embed="rId3"/>
          <a:stretch>
            <a:fillRect/>
          </a:stretch>
        </p:blipFill>
        <p:spPr>
          <a:xfrm>
            <a:off x="6185115" y="1324859"/>
            <a:ext cx="4994031" cy="4994031"/>
          </a:xfrm>
          <a:prstGeom prst="rect">
            <a:avLst/>
          </a:prstGeom>
        </p:spPr>
      </p:pic>
      <p:sp>
        <p:nvSpPr>
          <p:cNvPr id="11" name="TextBox 10">
            <a:extLst>
              <a:ext uri="{FF2B5EF4-FFF2-40B4-BE49-F238E27FC236}">
                <a16:creationId xmlns:a16="http://schemas.microsoft.com/office/drawing/2014/main" id="{7A601D41-9D37-17BA-9811-AB5ECC46AFE6}"/>
              </a:ext>
            </a:extLst>
          </p:cNvPr>
          <p:cNvSpPr txBox="1"/>
          <p:nvPr/>
        </p:nvSpPr>
        <p:spPr>
          <a:xfrm>
            <a:off x="7121770" y="1056969"/>
            <a:ext cx="6295292" cy="400110"/>
          </a:xfrm>
          <a:prstGeom prst="rect">
            <a:avLst/>
          </a:prstGeom>
          <a:noFill/>
        </p:spPr>
        <p:txBody>
          <a:bodyPr wrap="square">
            <a:spAutoFit/>
          </a:bodyPr>
          <a:lstStyle/>
          <a:p>
            <a:r>
              <a:rPr lang="en-US" sz="2000" dirty="0"/>
              <a:t>Homework for 1</a:t>
            </a:r>
            <a:r>
              <a:rPr lang="en-US" sz="2000" baseline="30000" dirty="0"/>
              <a:t>st</a:t>
            </a:r>
            <a:r>
              <a:rPr lang="en-US" sz="2000" dirty="0"/>
              <a:t> module</a:t>
            </a:r>
            <a:endParaRPr lang="ru-RU" sz="2000" dirty="0"/>
          </a:p>
        </p:txBody>
      </p:sp>
    </p:spTree>
    <p:extLst>
      <p:ext uri="{BB962C8B-B14F-4D97-AF65-F5344CB8AC3E}">
        <p14:creationId xmlns:p14="http://schemas.microsoft.com/office/powerpoint/2010/main" val="3276058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a:xfrm>
            <a:off x="514027" y="936347"/>
            <a:ext cx="5245560" cy="777025"/>
          </a:xfrm>
        </p:spPr>
        <p:txBody>
          <a:bodyPr>
            <a:normAutofit/>
          </a:bodyPr>
          <a:lstStyle/>
          <a:p>
            <a:r>
              <a:rPr lang="en-US" sz="3600" dirty="0"/>
              <a:t>Final mark</a:t>
            </a:r>
            <a:endParaRPr lang="ru-RU" sz="3600" dirty="0"/>
          </a:p>
        </p:txBody>
      </p:sp>
      <p:sp>
        <p:nvSpPr>
          <p:cNvPr id="4" name="Текст 3">
            <a:extLst>
              <a:ext uri="{FF2B5EF4-FFF2-40B4-BE49-F238E27FC236}">
                <a16:creationId xmlns:a16="http://schemas.microsoft.com/office/drawing/2014/main" id="{985EFA28-570A-F647-B2F7-A43359726B4F}"/>
              </a:ext>
            </a:extLst>
          </p:cNvPr>
          <p:cNvSpPr>
            <a:spLocks noGrp="1"/>
          </p:cNvSpPr>
          <p:nvPr>
            <p:ph type="body" sz="quarter" idx="12"/>
          </p:nvPr>
        </p:nvSpPr>
        <p:spPr>
          <a:xfrm>
            <a:off x="514027" y="1713372"/>
            <a:ext cx="11342176" cy="4873408"/>
          </a:xfrm>
        </p:spPr>
        <p:txBody>
          <a:bodyPr>
            <a:normAutofit/>
          </a:bodyPr>
          <a:lstStyle/>
          <a:p>
            <a:pPr marL="342900" indent="-342900">
              <a:buFont typeface="Arial" panose="020B0604020202020204" pitchFamily="34" charset="0"/>
              <a:buChar char="•"/>
            </a:pPr>
            <a:r>
              <a:rPr lang="ru-RU" sz="2400" dirty="0"/>
              <a:t>1</a:t>
            </a:r>
            <a:r>
              <a:rPr lang="en-US" sz="2400" dirty="0"/>
              <a:t> semester</a:t>
            </a:r>
            <a:endParaRPr lang="ru-RU" sz="2400" dirty="0"/>
          </a:p>
          <a:p>
            <a:r>
              <a:rPr lang="ru-RU" sz="2400" b="1" dirty="0"/>
              <a:t>0,29 </a:t>
            </a:r>
            <a:r>
              <a:rPr lang="en-US" sz="2400" b="1" dirty="0"/>
              <a:t>seminars</a:t>
            </a:r>
            <a:r>
              <a:rPr lang="ru-RU" sz="2400" b="1" dirty="0"/>
              <a:t> (</a:t>
            </a:r>
            <a:r>
              <a:rPr lang="en-US" sz="2400" b="1" dirty="0"/>
              <a:t>1</a:t>
            </a:r>
            <a:r>
              <a:rPr lang="en-US" sz="2400" b="1" baseline="30000" dirty="0"/>
              <a:t>st</a:t>
            </a:r>
            <a:r>
              <a:rPr lang="en-US" sz="2400" b="1" dirty="0"/>
              <a:t> module</a:t>
            </a:r>
            <a:r>
              <a:rPr lang="ru-RU" sz="2400" b="1" dirty="0"/>
              <a:t>) + 0,29 </a:t>
            </a:r>
            <a:r>
              <a:rPr lang="en-US" sz="2400" b="1" dirty="0"/>
              <a:t>seminars</a:t>
            </a:r>
            <a:r>
              <a:rPr lang="ru-RU" sz="2400" b="1" dirty="0"/>
              <a:t> (</a:t>
            </a:r>
            <a:r>
              <a:rPr lang="en-US" sz="2400" b="1" dirty="0"/>
              <a:t>2</a:t>
            </a:r>
            <a:r>
              <a:rPr lang="en-US" sz="2400" b="1" baseline="30000" dirty="0"/>
              <a:t>nd</a:t>
            </a:r>
            <a:r>
              <a:rPr lang="en-US" sz="2400" b="1" dirty="0"/>
              <a:t> module</a:t>
            </a:r>
            <a:r>
              <a:rPr lang="ru-RU" sz="2400" b="1" dirty="0"/>
              <a:t>) + 0,21 </a:t>
            </a:r>
            <a:r>
              <a:rPr lang="en-US" sz="2400" b="1" dirty="0" err="1"/>
              <a:t>SmartLMS</a:t>
            </a:r>
            <a:r>
              <a:rPr lang="ru-RU" sz="2400" b="1" dirty="0"/>
              <a:t> + 0,21 </a:t>
            </a:r>
            <a:r>
              <a:rPr lang="en-US" sz="2400" b="1" dirty="0"/>
              <a:t>exam</a:t>
            </a:r>
            <a:endParaRPr lang="ru-RU" sz="2400" b="1" dirty="0"/>
          </a:p>
          <a:p>
            <a:endParaRPr lang="ru-RU" sz="2400" dirty="0"/>
          </a:p>
          <a:p>
            <a:pPr marL="342900" indent="-342900">
              <a:buFont typeface="Arial" panose="020B0604020202020204" pitchFamily="34" charset="0"/>
              <a:buChar char="•"/>
            </a:pPr>
            <a:r>
              <a:rPr lang="ru-RU" sz="2400" dirty="0"/>
              <a:t>2 </a:t>
            </a:r>
            <a:r>
              <a:rPr lang="en-US" sz="2400" dirty="0"/>
              <a:t>semester</a:t>
            </a:r>
            <a:endParaRPr lang="ru-RU" sz="2400" dirty="0"/>
          </a:p>
          <a:p>
            <a:r>
              <a:rPr lang="ru-RU" sz="2400" b="1" dirty="0"/>
              <a:t>0,25 </a:t>
            </a:r>
            <a:r>
              <a:rPr lang="en-US" sz="2400" b="1" dirty="0"/>
              <a:t>seminars</a:t>
            </a:r>
            <a:r>
              <a:rPr lang="ru-RU" sz="2400" b="1" dirty="0"/>
              <a:t> (</a:t>
            </a:r>
            <a:r>
              <a:rPr lang="en-US" sz="2400" b="1" dirty="0"/>
              <a:t>3</a:t>
            </a:r>
            <a:r>
              <a:rPr lang="en-US" sz="2400" b="1" baseline="30000" dirty="0"/>
              <a:t>rd</a:t>
            </a:r>
            <a:r>
              <a:rPr lang="en-US" sz="2400" b="1" dirty="0"/>
              <a:t> module</a:t>
            </a:r>
            <a:r>
              <a:rPr lang="ru-RU" sz="2400" b="1" dirty="0"/>
              <a:t>) + 0,25 </a:t>
            </a:r>
            <a:r>
              <a:rPr lang="en-US" sz="2400" b="1" dirty="0"/>
              <a:t>seminars</a:t>
            </a:r>
            <a:r>
              <a:rPr lang="ru-RU" sz="2400" b="1" dirty="0"/>
              <a:t> (</a:t>
            </a:r>
            <a:r>
              <a:rPr lang="en-US" sz="2400" b="1" dirty="0"/>
              <a:t>4</a:t>
            </a:r>
            <a:r>
              <a:rPr lang="en-US" sz="2400" b="1" baseline="30000" dirty="0"/>
              <a:t>th</a:t>
            </a:r>
            <a:r>
              <a:rPr lang="en-US" sz="2400" b="1" dirty="0"/>
              <a:t> module</a:t>
            </a:r>
            <a:r>
              <a:rPr lang="ru-RU" sz="2400" b="1" dirty="0"/>
              <a:t>) + 0,2 </a:t>
            </a:r>
            <a:r>
              <a:rPr lang="en-US" sz="2400" b="1" dirty="0"/>
              <a:t>project</a:t>
            </a:r>
            <a:r>
              <a:rPr lang="ru-RU" sz="2400" b="1" dirty="0"/>
              <a:t> + 0,15 </a:t>
            </a:r>
            <a:r>
              <a:rPr lang="en-US" sz="2400" b="1" dirty="0" err="1"/>
              <a:t>SmartLMS</a:t>
            </a:r>
            <a:r>
              <a:rPr lang="ru-RU" sz="2400" b="1" dirty="0"/>
              <a:t> + 0,15 </a:t>
            </a:r>
            <a:r>
              <a:rPr lang="en-US" sz="2400" b="1" dirty="0"/>
              <a:t>exam</a:t>
            </a:r>
            <a:endParaRPr lang="ru-RU" sz="2400" b="1" dirty="0"/>
          </a:p>
          <a:p>
            <a:endParaRPr lang="ru-RU" sz="2400" b="1" dirty="0"/>
          </a:p>
          <a:p>
            <a:pPr marL="342900" indent="-342900">
              <a:buFont typeface="Arial" panose="020B0604020202020204" pitchFamily="34" charset="0"/>
              <a:buChar char="•"/>
            </a:pPr>
            <a:r>
              <a:rPr lang="en-US" sz="2400" dirty="0"/>
              <a:t>Both exams block all other received marks!</a:t>
            </a:r>
            <a:endParaRPr lang="ru-RU" sz="2400" dirty="0"/>
          </a:p>
          <a:p>
            <a:pPr marL="342900" indent="-342900">
              <a:buFont typeface="Arial" panose="020B0604020202020204" pitchFamily="34" charset="0"/>
              <a:buChar char="•"/>
            </a:pPr>
            <a:endParaRPr lang="ru-RU" sz="2400" b="1" dirty="0">
              <a:highlight>
                <a:srgbClr val="FFFF00"/>
              </a:highlight>
            </a:endParaRPr>
          </a:p>
          <a:p>
            <a:endParaRPr lang="en-US" sz="2400" b="1" dirty="0">
              <a:highlight>
                <a:srgbClr val="FFFF00"/>
              </a:highlight>
            </a:endParaRPr>
          </a:p>
          <a:p>
            <a:endParaRPr lang="ru-RU" sz="2400" b="1" dirty="0">
              <a:highlight>
                <a:srgbClr val="FFFF00"/>
              </a:highlight>
            </a:endParaRPr>
          </a:p>
        </p:txBody>
      </p:sp>
    </p:spTree>
    <p:extLst>
      <p:ext uri="{BB962C8B-B14F-4D97-AF65-F5344CB8AC3E}">
        <p14:creationId xmlns:p14="http://schemas.microsoft.com/office/powerpoint/2010/main" val="1578636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a:xfrm>
            <a:off x="514027" y="936347"/>
            <a:ext cx="5245560" cy="777025"/>
          </a:xfrm>
        </p:spPr>
        <p:txBody>
          <a:bodyPr>
            <a:normAutofit/>
          </a:bodyPr>
          <a:lstStyle/>
          <a:p>
            <a:r>
              <a:rPr lang="en-US" sz="3600" dirty="0"/>
              <a:t>Some important info</a:t>
            </a:r>
            <a:r>
              <a:rPr lang="ru-RU" sz="3600" dirty="0"/>
              <a:t> (1)</a:t>
            </a:r>
          </a:p>
        </p:txBody>
      </p:sp>
      <p:sp>
        <p:nvSpPr>
          <p:cNvPr id="4" name="Текст 3">
            <a:extLst>
              <a:ext uri="{FF2B5EF4-FFF2-40B4-BE49-F238E27FC236}">
                <a16:creationId xmlns:a16="http://schemas.microsoft.com/office/drawing/2014/main" id="{985EFA28-570A-F647-B2F7-A43359726B4F}"/>
              </a:ext>
            </a:extLst>
          </p:cNvPr>
          <p:cNvSpPr>
            <a:spLocks noGrp="1"/>
          </p:cNvSpPr>
          <p:nvPr>
            <p:ph type="body" sz="quarter" idx="12"/>
          </p:nvPr>
        </p:nvSpPr>
        <p:spPr>
          <a:xfrm>
            <a:off x="514027" y="1713372"/>
            <a:ext cx="11342176" cy="4873408"/>
          </a:xfrm>
        </p:spPr>
        <p:txBody>
          <a:bodyPr>
            <a:normAutofit fontScale="92500" lnSpcReduction="20000"/>
          </a:bodyPr>
          <a:lstStyle/>
          <a:p>
            <a:pPr marL="342900" indent="-342900">
              <a:buFont typeface="Arial" panose="020B0604020202020204" pitchFamily="34" charset="0"/>
              <a:buChar char="•"/>
            </a:pPr>
            <a:r>
              <a:rPr lang="en-US" sz="2400" dirty="0"/>
              <a:t>Work in </a:t>
            </a:r>
            <a:r>
              <a:rPr lang="en-US" sz="2400" dirty="0" err="1"/>
              <a:t>SmartLMS</a:t>
            </a:r>
            <a:r>
              <a:rPr lang="en-US" sz="2400" dirty="0"/>
              <a:t> means that you should watch online lectures and do some tasks and tests for each topic</a:t>
            </a:r>
          </a:p>
          <a:p>
            <a:r>
              <a:rPr lang="en-US" sz="2400" b="1" dirty="0"/>
              <a:t>This kind of work will be accounted in accordance with your marks for each task and due to the scale:</a:t>
            </a:r>
          </a:p>
          <a:p>
            <a:r>
              <a:rPr lang="ru-RU" sz="2400" dirty="0"/>
              <a:t>0-29 % - 0 </a:t>
            </a:r>
            <a:r>
              <a:rPr lang="en-US" sz="2400" dirty="0"/>
              <a:t>points</a:t>
            </a:r>
            <a:endParaRPr lang="ru-RU" sz="2400" dirty="0"/>
          </a:p>
          <a:p>
            <a:r>
              <a:rPr lang="ru-RU" sz="2400" dirty="0"/>
              <a:t>30 - 39% - 4 </a:t>
            </a:r>
            <a:r>
              <a:rPr lang="en-US" sz="2400" dirty="0"/>
              <a:t>points</a:t>
            </a:r>
            <a:endParaRPr lang="ru-RU" sz="2400" dirty="0"/>
          </a:p>
          <a:p>
            <a:r>
              <a:rPr lang="ru-RU" sz="2400" dirty="0"/>
              <a:t>40-49% - 5 </a:t>
            </a:r>
            <a:r>
              <a:rPr lang="en-US" sz="2400" dirty="0"/>
              <a:t>points</a:t>
            </a:r>
            <a:endParaRPr lang="ru-RU" sz="2400" dirty="0"/>
          </a:p>
          <a:p>
            <a:r>
              <a:rPr lang="ru-RU" sz="2400" dirty="0"/>
              <a:t>50-69% - 6 </a:t>
            </a:r>
            <a:r>
              <a:rPr lang="en-US" sz="2400" dirty="0"/>
              <a:t>points</a:t>
            </a:r>
            <a:endParaRPr lang="ru-RU" sz="2400" dirty="0"/>
          </a:p>
          <a:p>
            <a:r>
              <a:rPr lang="ru-RU" sz="2400" dirty="0"/>
              <a:t>70-79 % - 7 </a:t>
            </a:r>
            <a:r>
              <a:rPr lang="en-US" sz="2400" dirty="0"/>
              <a:t>points</a:t>
            </a:r>
            <a:endParaRPr lang="ru-RU" sz="2400" dirty="0"/>
          </a:p>
          <a:p>
            <a:r>
              <a:rPr lang="ru-RU" sz="2400" dirty="0"/>
              <a:t>80-89% - 8 </a:t>
            </a:r>
            <a:r>
              <a:rPr lang="en-US" sz="2400" dirty="0"/>
              <a:t>points</a:t>
            </a:r>
            <a:endParaRPr lang="ru-RU" sz="2400" dirty="0"/>
          </a:p>
          <a:p>
            <a:r>
              <a:rPr lang="ru-RU" sz="2400" dirty="0"/>
              <a:t>90-95% - 9 </a:t>
            </a:r>
            <a:r>
              <a:rPr lang="en-US" sz="2400" dirty="0"/>
              <a:t>points</a:t>
            </a:r>
            <a:endParaRPr lang="ru-RU" sz="2400" dirty="0"/>
          </a:p>
          <a:p>
            <a:r>
              <a:rPr lang="ru-RU" sz="2400" dirty="0"/>
              <a:t>96-100% - 10 </a:t>
            </a:r>
            <a:r>
              <a:rPr lang="en-US" sz="2400" dirty="0"/>
              <a:t>points</a:t>
            </a:r>
            <a:endParaRPr lang="ru-RU" sz="2400" dirty="0"/>
          </a:p>
          <a:p>
            <a:r>
              <a:rPr lang="en-US" sz="2400" b="1" dirty="0"/>
              <a:t>Tasks will be available for a limited time! </a:t>
            </a:r>
            <a:endParaRPr lang="ru-RU" sz="2400" b="1" dirty="0"/>
          </a:p>
          <a:p>
            <a:endParaRPr lang="ru-RU" sz="2400" b="1" dirty="0"/>
          </a:p>
          <a:p>
            <a:endParaRPr lang="en-US" sz="2400" b="1" dirty="0"/>
          </a:p>
          <a:p>
            <a:endParaRPr lang="ru-RU" sz="2400" b="1" dirty="0"/>
          </a:p>
        </p:txBody>
      </p:sp>
    </p:spTree>
    <p:extLst>
      <p:ext uri="{BB962C8B-B14F-4D97-AF65-F5344CB8AC3E}">
        <p14:creationId xmlns:p14="http://schemas.microsoft.com/office/powerpoint/2010/main" val="2613851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a:xfrm>
            <a:off x="514027" y="936347"/>
            <a:ext cx="5245560" cy="777025"/>
          </a:xfrm>
        </p:spPr>
        <p:txBody>
          <a:bodyPr>
            <a:normAutofit/>
          </a:bodyPr>
          <a:lstStyle/>
          <a:p>
            <a:r>
              <a:rPr lang="en-US" sz="3600" dirty="0"/>
              <a:t>Some important info</a:t>
            </a:r>
            <a:r>
              <a:rPr lang="ru-RU" sz="3600" dirty="0"/>
              <a:t> (2)</a:t>
            </a:r>
          </a:p>
        </p:txBody>
      </p:sp>
      <p:sp>
        <p:nvSpPr>
          <p:cNvPr id="4" name="Текст 3">
            <a:extLst>
              <a:ext uri="{FF2B5EF4-FFF2-40B4-BE49-F238E27FC236}">
                <a16:creationId xmlns:a16="http://schemas.microsoft.com/office/drawing/2014/main" id="{985EFA28-570A-F647-B2F7-A43359726B4F}"/>
              </a:ext>
            </a:extLst>
          </p:cNvPr>
          <p:cNvSpPr>
            <a:spLocks noGrp="1"/>
          </p:cNvSpPr>
          <p:nvPr>
            <p:ph type="body" sz="quarter" idx="12"/>
          </p:nvPr>
        </p:nvSpPr>
        <p:spPr>
          <a:xfrm>
            <a:off x="514027" y="1713372"/>
            <a:ext cx="11342176" cy="4873408"/>
          </a:xfrm>
        </p:spPr>
        <p:txBody>
          <a:bodyPr>
            <a:normAutofit/>
          </a:bodyPr>
          <a:lstStyle/>
          <a:p>
            <a:pPr marL="342900" indent="-342900">
              <a:buFont typeface="Arial" panose="020B0604020202020204" pitchFamily="34" charset="0"/>
              <a:buChar char="•"/>
            </a:pPr>
            <a:r>
              <a:rPr lang="en-US" sz="2400" dirty="0"/>
              <a:t>Activity on seminars means </a:t>
            </a:r>
            <a:r>
              <a:rPr lang="en-US" sz="2400" b="1" dirty="0"/>
              <a:t>activity related to seminar</a:t>
            </a:r>
            <a:r>
              <a:rPr lang="en-US" sz="2400" dirty="0"/>
              <a:t>, not just attending and remaining silent</a:t>
            </a:r>
            <a:r>
              <a:rPr lang="ru-RU" sz="2400" dirty="0">
                <a:sym typeface="Wingdings" pitchFamily="2" charset="2"/>
              </a:rPr>
              <a:t> </a:t>
            </a:r>
            <a:endParaRPr lang="en-US" sz="2400" dirty="0">
              <a:sym typeface="Wingdings" pitchFamily="2" charset="2"/>
            </a:endParaRPr>
          </a:p>
          <a:p>
            <a:pPr marL="342900" indent="-342900">
              <a:buFont typeface="Arial" panose="020B0604020202020204" pitchFamily="34" charset="0"/>
              <a:buChar char="•"/>
            </a:pPr>
            <a:r>
              <a:rPr lang="en-US" sz="2400" dirty="0">
                <a:sym typeface="Wingdings" pitchFamily="2" charset="2"/>
              </a:rPr>
              <a:t>Marks 9-10 are given only for the answers that exceed seminar’s requirements in terms of knowledge of literature </a:t>
            </a:r>
          </a:p>
          <a:p>
            <a:pPr marL="342900" indent="-342900">
              <a:buFont typeface="Arial" panose="020B0604020202020204" pitchFamily="34" charset="0"/>
              <a:buChar char="•"/>
            </a:pPr>
            <a:r>
              <a:rPr lang="en-US" sz="2400" dirty="0">
                <a:sym typeface="Wingdings" pitchFamily="2" charset="2"/>
              </a:rPr>
              <a:t>In case of the absence on the seminar: </a:t>
            </a:r>
            <a:r>
              <a:rPr lang="en-US" sz="2400" b="1" dirty="0">
                <a:sym typeface="Wingdings" pitchFamily="2" charset="2"/>
              </a:rPr>
              <a:t>only 1 additional task for one missed seminar per module</a:t>
            </a:r>
            <a:r>
              <a:rPr lang="en-US" sz="2400" dirty="0">
                <a:sym typeface="Wingdings" pitchFamily="2" charset="2"/>
              </a:rPr>
              <a:t>. You will need to read literature for the seminar and write an answer for 2-3 questions based on the literature. You will need to send this task to our assistant </a:t>
            </a:r>
            <a:r>
              <a:rPr lang="en-US" sz="2400" b="1" dirty="0">
                <a:sym typeface="Wingdings" pitchFamily="2" charset="2"/>
              </a:rPr>
              <a:t>no later than 10 days after missed seminar</a:t>
            </a:r>
            <a:r>
              <a:rPr lang="en-US" sz="2400" dirty="0">
                <a:sym typeface="Wingdings" pitchFamily="2" charset="2"/>
              </a:rPr>
              <a:t>! After this deadline tasks will not be accepted. </a:t>
            </a:r>
            <a:endParaRPr lang="ru-RU" sz="2400" dirty="0">
              <a:sym typeface="Wingdings" pitchFamily="2" charset="2"/>
            </a:endParaRPr>
          </a:p>
          <a:p>
            <a:pPr marL="342900" indent="-342900">
              <a:buFont typeface="Arial" panose="020B0604020202020204" pitchFamily="34" charset="0"/>
              <a:buChar char="•"/>
            </a:pPr>
            <a:r>
              <a:rPr lang="en-US" sz="2400" dirty="0">
                <a:sym typeface="Wingdings" pitchFamily="2" charset="2"/>
              </a:rPr>
              <a:t>Mostly seminars will be organized in the form of discussion.</a:t>
            </a:r>
          </a:p>
          <a:p>
            <a:endParaRPr lang="en-US" sz="2400" dirty="0">
              <a:sym typeface="Wingdings" pitchFamily="2" charset="2"/>
            </a:endParaRPr>
          </a:p>
          <a:p>
            <a:endParaRPr lang="ru-RU" sz="2400" dirty="0">
              <a:sym typeface="Wingdings" pitchFamily="2" charset="2"/>
            </a:endParaRPr>
          </a:p>
          <a:p>
            <a:endParaRPr lang="ru-RU" sz="2400" b="1" dirty="0"/>
          </a:p>
          <a:p>
            <a:endParaRPr lang="en-US" sz="2400" b="1" dirty="0"/>
          </a:p>
          <a:p>
            <a:endParaRPr lang="ru-RU" sz="2400" b="1" dirty="0"/>
          </a:p>
        </p:txBody>
      </p:sp>
    </p:spTree>
    <p:extLst>
      <p:ext uri="{BB962C8B-B14F-4D97-AF65-F5344CB8AC3E}">
        <p14:creationId xmlns:p14="http://schemas.microsoft.com/office/powerpoint/2010/main" val="2150878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a:xfrm>
            <a:off x="514027" y="936347"/>
            <a:ext cx="5245560" cy="777025"/>
          </a:xfrm>
        </p:spPr>
        <p:txBody>
          <a:bodyPr>
            <a:normAutofit/>
          </a:bodyPr>
          <a:lstStyle/>
          <a:p>
            <a:r>
              <a:rPr lang="en-US" sz="3600" dirty="0"/>
              <a:t>Some important info</a:t>
            </a:r>
            <a:r>
              <a:rPr lang="ru-RU" sz="3600" dirty="0"/>
              <a:t> (</a:t>
            </a:r>
            <a:r>
              <a:rPr lang="en-US" sz="3600" dirty="0"/>
              <a:t>3</a:t>
            </a:r>
            <a:r>
              <a:rPr lang="ru-RU" sz="3600" dirty="0"/>
              <a:t>)</a:t>
            </a:r>
          </a:p>
        </p:txBody>
      </p:sp>
      <p:sp>
        <p:nvSpPr>
          <p:cNvPr id="4" name="Текст 3">
            <a:extLst>
              <a:ext uri="{FF2B5EF4-FFF2-40B4-BE49-F238E27FC236}">
                <a16:creationId xmlns:a16="http://schemas.microsoft.com/office/drawing/2014/main" id="{985EFA28-570A-F647-B2F7-A43359726B4F}"/>
              </a:ext>
            </a:extLst>
          </p:cNvPr>
          <p:cNvSpPr>
            <a:spLocks noGrp="1"/>
          </p:cNvSpPr>
          <p:nvPr>
            <p:ph type="body" sz="quarter" idx="12"/>
          </p:nvPr>
        </p:nvSpPr>
        <p:spPr>
          <a:xfrm>
            <a:off x="514027" y="1703452"/>
            <a:ext cx="8412062" cy="4873408"/>
          </a:xfrm>
        </p:spPr>
        <p:txBody>
          <a:bodyPr>
            <a:normAutofit/>
          </a:bodyPr>
          <a:lstStyle/>
          <a:p>
            <a:pPr marL="342900" indent="-342900">
              <a:buFont typeface="Arial" panose="020B0604020202020204" pitchFamily="34" charset="0"/>
              <a:buChar char="•"/>
            </a:pPr>
            <a:r>
              <a:rPr lang="en-US" sz="2400" dirty="0">
                <a:sym typeface="Wingdings" pitchFamily="2" charset="2"/>
              </a:rPr>
              <a:t>Project topics</a:t>
            </a:r>
            <a:r>
              <a:rPr lang="ru-RU" sz="2400" dirty="0">
                <a:sym typeface="Wingdings" pitchFamily="2" charset="2"/>
              </a:rPr>
              <a:t> </a:t>
            </a:r>
            <a:r>
              <a:rPr lang="en-US" sz="2400" dirty="0">
                <a:sym typeface="Wingdings" pitchFamily="2" charset="2"/>
              </a:rPr>
              <a:t>and formats will be presented at the beginning of 2</a:t>
            </a:r>
            <a:r>
              <a:rPr lang="en-US" sz="2400" baseline="30000" dirty="0">
                <a:sym typeface="Wingdings" pitchFamily="2" charset="2"/>
              </a:rPr>
              <a:t>nd</a:t>
            </a:r>
            <a:r>
              <a:rPr lang="en-US" sz="2400" dirty="0">
                <a:sym typeface="Wingdings" pitchFamily="2" charset="2"/>
              </a:rPr>
              <a:t> semester</a:t>
            </a:r>
          </a:p>
          <a:p>
            <a:pPr marL="342900" indent="-342900">
              <a:buFont typeface="Arial" panose="020B0604020202020204" pitchFamily="34" charset="0"/>
              <a:buChar char="•"/>
            </a:pPr>
            <a:r>
              <a:rPr lang="en-US" sz="2400" dirty="0">
                <a:sym typeface="Wingdings" pitchFamily="2" charset="2"/>
              </a:rPr>
              <a:t>Exams will take place in </a:t>
            </a:r>
            <a:r>
              <a:rPr lang="en-US" sz="2400" dirty="0" err="1">
                <a:sym typeface="Wingdings" pitchFamily="2" charset="2"/>
              </a:rPr>
              <a:t>SmartLMS</a:t>
            </a:r>
            <a:r>
              <a:rPr lang="en-US" sz="2400" dirty="0">
                <a:sym typeface="Wingdings" pitchFamily="2" charset="2"/>
              </a:rPr>
              <a:t> without proctoring system</a:t>
            </a:r>
          </a:p>
          <a:p>
            <a:r>
              <a:rPr lang="en-US" sz="2400" dirty="0">
                <a:sym typeface="Wingdings" pitchFamily="2" charset="2"/>
              </a:rPr>
              <a:t>1</a:t>
            </a:r>
            <a:r>
              <a:rPr lang="en-US" sz="2400" baseline="30000" dirty="0">
                <a:sym typeface="Wingdings" pitchFamily="2" charset="2"/>
              </a:rPr>
              <a:t>st</a:t>
            </a:r>
            <a:r>
              <a:rPr lang="en-US" sz="2400" dirty="0">
                <a:sym typeface="Wingdings" pitchFamily="2" charset="2"/>
              </a:rPr>
              <a:t> exam will be on winter session (2</a:t>
            </a:r>
            <a:r>
              <a:rPr lang="en-US" sz="2400" baseline="30000" dirty="0">
                <a:sym typeface="Wingdings" pitchFamily="2" charset="2"/>
              </a:rPr>
              <a:t>nd</a:t>
            </a:r>
            <a:r>
              <a:rPr lang="en-US" sz="2400" dirty="0">
                <a:sym typeface="Wingdings" pitchFamily="2" charset="2"/>
              </a:rPr>
              <a:t> half of December)</a:t>
            </a:r>
          </a:p>
          <a:p>
            <a:r>
              <a:rPr lang="en-US" sz="2400" dirty="0">
                <a:sym typeface="Wingdings" pitchFamily="2" charset="2"/>
              </a:rPr>
              <a:t>2</a:t>
            </a:r>
            <a:r>
              <a:rPr lang="en-US" sz="2400" baseline="30000" dirty="0">
                <a:sym typeface="Wingdings" pitchFamily="2" charset="2"/>
              </a:rPr>
              <a:t>nd</a:t>
            </a:r>
            <a:r>
              <a:rPr lang="en-US" sz="2400" dirty="0">
                <a:sym typeface="Wingdings" pitchFamily="2" charset="2"/>
              </a:rPr>
              <a:t> exam will be on summer session (2</a:t>
            </a:r>
            <a:r>
              <a:rPr lang="en-US" sz="2400" baseline="30000" dirty="0">
                <a:sym typeface="Wingdings" pitchFamily="2" charset="2"/>
              </a:rPr>
              <a:t>nd</a:t>
            </a:r>
            <a:r>
              <a:rPr lang="en-US" sz="2400" dirty="0">
                <a:sym typeface="Wingdings" pitchFamily="2" charset="2"/>
              </a:rPr>
              <a:t> half of June)</a:t>
            </a:r>
          </a:p>
          <a:p>
            <a:endParaRPr lang="en-US" sz="2400" dirty="0">
              <a:sym typeface="Wingdings" pitchFamily="2" charset="2"/>
            </a:endParaRPr>
          </a:p>
          <a:p>
            <a:r>
              <a:rPr lang="en-US" sz="2400" b="1" dirty="0">
                <a:sym typeface="Wingdings" pitchFamily="2" charset="2"/>
              </a:rPr>
              <a:t>If you will not pass the exam, it will fully block other received parts of mark and you will get unsatisfactory final mark!</a:t>
            </a:r>
          </a:p>
          <a:p>
            <a:endParaRPr lang="en-US" sz="2400" dirty="0">
              <a:sym typeface="Wingdings" pitchFamily="2" charset="2"/>
            </a:endParaRPr>
          </a:p>
          <a:p>
            <a:endParaRPr lang="ru-RU" sz="2400" dirty="0">
              <a:sym typeface="Wingdings" pitchFamily="2" charset="2"/>
            </a:endParaRPr>
          </a:p>
          <a:p>
            <a:endParaRPr lang="ru-RU" sz="2400" b="1" dirty="0"/>
          </a:p>
          <a:p>
            <a:endParaRPr lang="en-US" sz="2400" b="1" dirty="0"/>
          </a:p>
          <a:p>
            <a:endParaRPr lang="ru-RU" sz="2400" b="1" dirty="0"/>
          </a:p>
        </p:txBody>
      </p:sp>
    </p:spTree>
    <p:extLst>
      <p:ext uri="{BB962C8B-B14F-4D97-AF65-F5344CB8AC3E}">
        <p14:creationId xmlns:p14="http://schemas.microsoft.com/office/powerpoint/2010/main" val="4155658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1FA24E76-156D-001C-9C73-32D284159493}"/>
              </a:ext>
            </a:extLst>
          </p:cNvPr>
          <p:cNvPicPr>
            <a:picLocks noChangeAspect="1"/>
          </p:cNvPicPr>
          <p:nvPr/>
        </p:nvPicPr>
        <p:blipFill>
          <a:blip r:embed="rId2"/>
          <a:stretch>
            <a:fillRect/>
          </a:stretch>
        </p:blipFill>
        <p:spPr>
          <a:xfrm>
            <a:off x="2895600" y="339969"/>
            <a:ext cx="6400800" cy="6400800"/>
          </a:xfrm>
          <a:prstGeom prst="rect">
            <a:avLst/>
          </a:prstGeom>
        </p:spPr>
      </p:pic>
    </p:spTree>
    <p:extLst>
      <p:ext uri="{BB962C8B-B14F-4D97-AF65-F5344CB8AC3E}">
        <p14:creationId xmlns:p14="http://schemas.microsoft.com/office/powerpoint/2010/main" val="783662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Текст 3">
            <a:extLst>
              <a:ext uri="{FF2B5EF4-FFF2-40B4-BE49-F238E27FC236}">
                <a16:creationId xmlns:a16="http://schemas.microsoft.com/office/drawing/2014/main" id="{985EFA28-570A-F647-B2F7-A43359726B4F}"/>
              </a:ext>
            </a:extLst>
          </p:cNvPr>
          <p:cNvSpPr>
            <a:spLocks noGrp="1"/>
          </p:cNvSpPr>
          <p:nvPr>
            <p:ph type="body" sz="quarter" idx="12"/>
          </p:nvPr>
        </p:nvSpPr>
        <p:spPr>
          <a:xfrm>
            <a:off x="514027" y="1713372"/>
            <a:ext cx="11326874" cy="4873408"/>
          </a:xfrm>
        </p:spPr>
        <p:txBody>
          <a:bodyPr>
            <a:normAutofit lnSpcReduction="10000"/>
          </a:bodyPr>
          <a:lstStyle/>
          <a:p>
            <a:r>
              <a:rPr lang="en-US" sz="2400" dirty="0" err="1">
                <a:sym typeface="Wingdings" pitchFamily="2" charset="2"/>
              </a:rPr>
              <a:t>Teoriya</a:t>
            </a:r>
            <a:r>
              <a:rPr lang="en-US" sz="2400" dirty="0">
                <a:sym typeface="Wingdings" pitchFamily="2" charset="2"/>
              </a:rPr>
              <a:t> </a:t>
            </a:r>
            <a:r>
              <a:rPr lang="en-US" sz="2400" dirty="0" err="1">
                <a:sym typeface="Wingdings" pitchFamily="2" charset="2"/>
              </a:rPr>
              <a:t>i</a:t>
            </a:r>
            <a:r>
              <a:rPr lang="en-US" sz="2400" dirty="0">
                <a:sym typeface="Wingdings" pitchFamily="2" charset="2"/>
              </a:rPr>
              <a:t> </a:t>
            </a:r>
            <a:r>
              <a:rPr lang="en-US" sz="2400" dirty="0" err="1">
                <a:sym typeface="Wingdings" pitchFamily="2" charset="2"/>
              </a:rPr>
              <a:t>metodologiya</a:t>
            </a:r>
            <a:r>
              <a:rPr lang="en-US" sz="2400" dirty="0">
                <a:sym typeface="Wingdings" pitchFamily="2" charset="2"/>
              </a:rPr>
              <a:t> </a:t>
            </a:r>
            <a:r>
              <a:rPr lang="en-US" sz="2400" dirty="0" err="1">
                <a:sym typeface="Wingdings" pitchFamily="2" charset="2"/>
              </a:rPr>
              <a:t>istoricheskoy</a:t>
            </a:r>
            <a:r>
              <a:rPr lang="en-US" sz="2400" dirty="0">
                <a:sym typeface="Wingdings" pitchFamily="2" charset="2"/>
              </a:rPr>
              <a:t> </a:t>
            </a:r>
            <a:r>
              <a:rPr lang="en-US" sz="2400" dirty="0" err="1">
                <a:sym typeface="Wingdings" pitchFamily="2" charset="2"/>
              </a:rPr>
              <a:t>nauki</a:t>
            </a:r>
            <a:r>
              <a:rPr lang="en-US" sz="2400" dirty="0">
                <a:sym typeface="Wingdings" pitchFamily="2" charset="2"/>
              </a:rPr>
              <a:t>. </a:t>
            </a:r>
            <a:r>
              <a:rPr lang="en-US" sz="2400" dirty="0" err="1">
                <a:sym typeface="Wingdings" pitchFamily="2" charset="2"/>
              </a:rPr>
              <a:t>Terminologicheskiy</a:t>
            </a:r>
            <a:r>
              <a:rPr lang="en-US" sz="2400" dirty="0">
                <a:sym typeface="Wingdings" pitchFamily="2" charset="2"/>
              </a:rPr>
              <a:t> </a:t>
            </a:r>
            <a:r>
              <a:rPr lang="en-US" sz="2400" dirty="0" err="1">
                <a:sym typeface="Wingdings" pitchFamily="2" charset="2"/>
              </a:rPr>
              <a:t>slovar</a:t>
            </a:r>
            <a:r>
              <a:rPr lang="en-US" sz="2400" dirty="0">
                <a:sym typeface="Wingdings" pitchFamily="2" charset="2"/>
              </a:rPr>
              <a:t>' / </a:t>
            </a:r>
            <a:r>
              <a:rPr lang="en-US" sz="2400" dirty="0" err="1">
                <a:sym typeface="Wingdings" pitchFamily="2" charset="2"/>
              </a:rPr>
              <a:t>Otv</a:t>
            </a:r>
            <a:r>
              <a:rPr lang="en-US" sz="2400" dirty="0">
                <a:sym typeface="Wingdings" pitchFamily="2" charset="2"/>
              </a:rPr>
              <a:t>. red. A. O. </a:t>
            </a:r>
            <a:r>
              <a:rPr lang="en-US" sz="2400" dirty="0" err="1">
                <a:sym typeface="Wingdings" pitchFamily="2" charset="2"/>
              </a:rPr>
              <a:t>Chubar'yan</a:t>
            </a:r>
            <a:r>
              <a:rPr lang="en-US" sz="2400" dirty="0">
                <a:sym typeface="Wingdings" pitchFamily="2" charset="2"/>
              </a:rPr>
              <a:t>. M.: </a:t>
            </a:r>
            <a:r>
              <a:rPr lang="en-US" sz="2400" dirty="0" err="1">
                <a:sym typeface="Wingdings" pitchFamily="2" charset="2"/>
              </a:rPr>
              <a:t>Akvilon</a:t>
            </a:r>
            <a:r>
              <a:rPr lang="en-US" sz="2400" dirty="0">
                <a:sym typeface="Wingdings" pitchFamily="2" charset="2"/>
              </a:rPr>
              <a:t>, 2014. S. 191.</a:t>
            </a:r>
          </a:p>
          <a:p>
            <a:r>
              <a:rPr lang="ru-RU" sz="2400" dirty="0">
                <a:sym typeface="Wingdings" pitchFamily="2" charset="2"/>
              </a:rPr>
              <a:t> </a:t>
            </a:r>
          </a:p>
          <a:p>
            <a:pPr algn="just"/>
            <a:r>
              <a:rPr lang="en-US" sz="2400" dirty="0">
                <a:sym typeface="Wingdings" pitchFamily="2" charset="2"/>
              </a:rPr>
              <a:t>HISTORY [Dr.-Greek </a:t>
            </a:r>
            <a:r>
              <a:rPr lang="en-US" sz="2400" dirty="0" err="1">
                <a:sym typeface="Wingdings" pitchFamily="2" charset="2"/>
              </a:rPr>
              <a:t>ioxopia</a:t>
            </a:r>
            <a:r>
              <a:rPr lang="en-US" sz="2400" dirty="0">
                <a:sym typeface="Wingdings" pitchFamily="2" charset="2"/>
              </a:rPr>
              <a:t> - story about the past] - 1) the process of development of nature and society; 2) a story, an incident, the process of development of something; 3) </a:t>
            </a:r>
            <a:r>
              <a:rPr lang="en-US" sz="2400" b="1" dirty="0">
                <a:sym typeface="Wingdings" pitchFamily="2" charset="2"/>
              </a:rPr>
              <a:t>a complex of social sciences (historical science), which studies the past of mankind in all its concreteness and </a:t>
            </a:r>
            <a:r>
              <a:rPr lang="en-US" sz="2400" b="1" dirty="0" err="1">
                <a:sym typeface="Wingdings" pitchFamily="2" charset="2"/>
              </a:rPr>
              <a:t>multifacetedness</a:t>
            </a:r>
            <a:r>
              <a:rPr lang="en-US" sz="2400" b="1" dirty="0">
                <a:sym typeface="Wingdings" pitchFamily="2" charset="2"/>
              </a:rPr>
              <a:t>. </a:t>
            </a:r>
            <a:r>
              <a:rPr lang="en-US" sz="2400" dirty="0">
                <a:sym typeface="Wingdings" pitchFamily="2" charset="2"/>
              </a:rPr>
              <a:t>Modern historical science consists of separate sections and branches. ... General history is divided primarily into the history of primitive society, the history of the most ancient civilizations (Egypt, China, Sumer, etc.) and ancient history (Ancient Greece and Ancient Rome), united in the history of the ancient world, as well as the history of the Middle Ages, modern history (17</a:t>
            </a:r>
            <a:r>
              <a:rPr lang="en-US" sz="2400" baseline="30000" dirty="0">
                <a:sym typeface="Wingdings" pitchFamily="2" charset="2"/>
              </a:rPr>
              <a:t>th</a:t>
            </a:r>
            <a:r>
              <a:rPr lang="en-US" sz="2400" dirty="0">
                <a:sym typeface="Wingdings" pitchFamily="2" charset="2"/>
              </a:rPr>
              <a:t> – 19</a:t>
            </a:r>
            <a:r>
              <a:rPr lang="en-US" sz="2400" baseline="30000" dirty="0">
                <a:sym typeface="Wingdings" pitchFamily="2" charset="2"/>
              </a:rPr>
              <a:t>th</a:t>
            </a:r>
            <a:r>
              <a:rPr lang="en-US" sz="2400" dirty="0">
                <a:sym typeface="Wingdings" pitchFamily="2" charset="2"/>
              </a:rPr>
              <a:t> centuries) and, finally, contemporary history, which includes the</a:t>
            </a:r>
            <a:r>
              <a:rPr lang="ru-RU" sz="2400" dirty="0">
                <a:sym typeface="Wingdings" pitchFamily="2" charset="2"/>
              </a:rPr>
              <a:t> 20</a:t>
            </a:r>
            <a:r>
              <a:rPr lang="en-US" sz="2400" baseline="30000" dirty="0" err="1">
                <a:sym typeface="Wingdings" pitchFamily="2" charset="2"/>
              </a:rPr>
              <a:t>th</a:t>
            </a:r>
            <a:r>
              <a:rPr lang="en-US" sz="2400" dirty="0">
                <a:sym typeface="Wingdings" pitchFamily="2" charset="2"/>
              </a:rPr>
              <a:t> – early 21</a:t>
            </a:r>
            <a:r>
              <a:rPr lang="en-US" sz="2400" baseline="30000" dirty="0">
                <a:sym typeface="Wingdings" pitchFamily="2" charset="2"/>
              </a:rPr>
              <a:t>st</a:t>
            </a:r>
            <a:r>
              <a:rPr lang="en-US" sz="2400" dirty="0">
                <a:sym typeface="Wingdings" pitchFamily="2" charset="2"/>
              </a:rPr>
              <a:t> century.</a:t>
            </a:r>
          </a:p>
          <a:p>
            <a:endParaRPr lang="en-US" sz="2400" dirty="0">
              <a:sym typeface="Wingdings" pitchFamily="2" charset="2"/>
            </a:endParaRPr>
          </a:p>
          <a:p>
            <a:endParaRPr lang="ru-RU" sz="2400" dirty="0">
              <a:sym typeface="Wingdings" pitchFamily="2" charset="2"/>
            </a:endParaRPr>
          </a:p>
          <a:p>
            <a:endParaRPr lang="ru-RU" sz="2400" b="1" dirty="0"/>
          </a:p>
          <a:p>
            <a:endParaRPr lang="en-US" sz="2400" b="1" dirty="0"/>
          </a:p>
          <a:p>
            <a:endParaRPr lang="ru-RU" sz="2400" b="1" dirty="0"/>
          </a:p>
        </p:txBody>
      </p:sp>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a:xfrm>
            <a:off x="514027" y="936347"/>
            <a:ext cx="5245560" cy="777025"/>
          </a:xfrm>
        </p:spPr>
        <p:txBody>
          <a:bodyPr>
            <a:normAutofit/>
          </a:bodyPr>
          <a:lstStyle/>
          <a:p>
            <a:r>
              <a:rPr lang="en-US" sz="3600" dirty="0"/>
              <a:t>What is history?</a:t>
            </a:r>
            <a:endParaRPr lang="ru-RU" sz="3600" dirty="0"/>
          </a:p>
        </p:txBody>
      </p:sp>
    </p:spTree>
    <p:extLst>
      <p:ext uri="{BB962C8B-B14F-4D97-AF65-F5344CB8AC3E}">
        <p14:creationId xmlns:p14="http://schemas.microsoft.com/office/powerpoint/2010/main" val="22146436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a:xfrm>
            <a:off x="514027" y="936347"/>
            <a:ext cx="5245560" cy="777025"/>
          </a:xfrm>
        </p:spPr>
        <p:txBody>
          <a:bodyPr>
            <a:normAutofit/>
          </a:bodyPr>
          <a:lstStyle/>
          <a:p>
            <a:r>
              <a:rPr lang="en-US" sz="3600" dirty="0"/>
              <a:t>Historical sources (1) </a:t>
            </a:r>
            <a:endParaRPr lang="ru-RU" sz="3600" dirty="0"/>
          </a:p>
        </p:txBody>
      </p:sp>
      <p:sp>
        <p:nvSpPr>
          <p:cNvPr id="4" name="Текст 3">
            <a:extLst>
              <a:ext uri="{FF2B5EF4-FFF2-40B4-BE49-F238E27FC236}">
                <a16:creationId xmlns:a16="http://schemas.microsoft.com/office/drawing/2014/main" id="{985EFA28-570A-F647-B2F7-A43359726B4F}"/>
              </a:ext>
            </a:extLst>
          </p:cNvPr>
          <p:cNvSpPr>
            <a:spLocks noGrp="1"/>
          </p:cNvSpPr>
          <p:nvPr>
            <p:ph type="body" sz="quarter" idx="12"/>
          </p:nvPr>
        </p:nvSpPr>
        <p:spPr>
          <a:xfrm>
            <a:off x="525750" y="1713372"/>
            <a:ext cx="11326874" cy="4873408"/>
          </a:xfrm>
        </p:spPr>
        <p:txBody>
          <a:bodyPr>
            <a:normAutofit/>
          </a:bodyPr>
          <a:lstStyle/>
          <a:p>
            <a:pPr algn="just"/>
            <a:r>
              <a:rPr lang="fr-FR" sz="2400" dirty="0">
                <a:cs typeface="Calibri" panose="020F0502020204030204" pitchFamily="34" charset="0"/>
              </a:rPr>
              <a:t>A </a:t>
            </a:r>
            <a:r>
              <a:rPr lang="fr-FR" sz="2400" dirty="0" err="1">
                <a:cs typeface="Calibri" panose="020F0502020204030204" pitchFamily="34" charset="0"/>
              </a:rPr>
              <a:t>historical</a:t>
            </a:r>
            <a:r>
              <a:rPr lang="fr-FR" sz="2400" dirty="0">
                <a:cs typeface="Calibri" panose="020F0502020204030204" pitchFamily="34" charset="0"/>
              </a:rPr>
              <a:t> source </a:t>
            </a:r>
            <a:r>
              <a:rPr lang="fr-FR" sz="2400" dirty="0" err="1">
                <a:cs typeface="Calibri" panose="020F0502020204030204" pitchFamily="34" charset="0"/>
              </a:rPr>
              <a:t>is</a:t>
            </a:r>
            <a:r>
              <a:rPr lang="fr-FR" sz="2400" dirty="0">
                <a:cs typeface="Calibri" panose="020F0502020204030204" pitchFamily="34" charset="0"/>
              </a:rPr>
              <a:t> ... </a:t>
            </a:r>
          </a:p>
          <a:p>
            <a:pPr marL="342900" indent="-342900" algn="just">
              <a:buFont typeface="Arial" panose="020B0604020202020204" pitchFamily="34" charset="0"/>
              <a:buChar char="•"/>
            </a:pPr>
            <a:r>
              <a:rPr lang="fr-FR" sz="2400" dirty="0" err="1">
                <a:cs typeface="Calibri" panose="020F0502020204030204" pitchFamily="34" charset="0"/>
              </a:rPr>
              <a:t>anything</a:t>
            </a:r>
            <a:r>
              <a:rPr lang="fr-FR" sz="2400" dirty="0">
                <a:cs typeface="Calibri" panose="020F0502020204030204" pitchFamily="34" charset="0"/>
              </a:rPr>
              <a:t> </a:t>
            </a:r>
            <a:r>
              <a:rPr lang="fr-FR" sz="2400" dirty="0" err="1">
                <a:cs typeface="Calibri" panose="020F0502020204030204" pitchFamily="34" charset="0"/>
              </a:rPr>
              <a:t>from</a:t>
            </a:r>
            <a:r>
              <a:rPr lang="fr-FR" sz="2400" dirty="0">
                <a:cs typeface="Calibri" panose="020F0502020204030204" pitchFamily="34" charset="0"/>
              </a:rPr>
              <a:t> </a:t>
            </a:r>
            <a:r>
              <a:rPr lang="fr-FR" sz="2400" dirty="0" err="1">
                <a:cs typeface="Calibri" panose="020F0502020204030204" pitchFamily="34" charset="0"/>
              </a:rPr>
              <a:t>which</a:t>
            </a:r>
            <a:r>
              <a:rPr lang="fr-FR" sz="2400" dirty="0">
                <a:cs typeface="Calibri" panose="020F0502020204030204" pitchFamily="34" charset="0"/>
              </a:rPr>
              <a:t> information about the </a:t>
            </a:r>
            <a:r>
              <a:rPr lang="fr-FR" sz="2400" dirty="0" err="1">
                <a:cs typeface="Calibri" panose="020F0502020204030204" pitchFamily="34" charset="0"/>
              </a:rPr>
              <a:t>past</a:t>
            </a:r>
            <a:r>
              <a:rPr lang="fr-FR" sz="2400" dirty="0">
                <a:cs typeface="Calibri" panose="020F0502020204030204" pitchFamily="34" charset="0"/>
              </a:rPr>
              <a:t> can </a:t>
            </a:r>
            <a:r>
              <a:rPr lang="fr-FR" sz="2400" dirty="0" err="1">
                <a:cs typeface="Calibri" panose="020F0502020204030204" pitchFamily="34" charset="0"/>
              </a:rPr>
              <a:t>be</a:t>
            </a:r>
            <a:r>
              <a:rPr lang="fr-FR" sz="2400" dirty="0">
                <a:cs typeface="Calibri" panose="020F0502020204030204" pitchFamily="34" charset="0"/>
              </a:rPr>
              <a:t> </a:t>
            </a:r>
            <a:r>
              <a:rPr lang="fr-FR" sz="2400" dirty="0" err="1">
                <a:cs typeface="Calibri" panose="020F0502020204030204" pitchFamily="34" charset="0"/>
              </a:rPr>
              <a:t>derived</a:t>
            </a:r>
            <a:r>
              <a:rPr lang="fr-FR" sz="2400" dirty="0">
                <a:cs typeface="Calibri" panose="020F0502020204030204" pitchFamily="34" charset="0"/>
              </a:rPr>
              <a:t> - </a:t>
            </a:r>
            <a:r>
              <a:rPr lang="fr-FR" sz="2400" dirty="0" err="1">
                <a:cs typeface="Calibri" panose="020F0502020204030204" pitchFamily="34" charset="0"/>
              </a:rPr>
              <a:t>any</a:t>
            </a:r>
            <a:r>
              <a:rPr lang="fr-FR" sz="2400" dirty="0">
                <a:cs typeface="Calibri" panose="020F0502020204030204" pitchFamily="34" charset="0"/>
              </a:rPr>
              <a:t> </a:t>
            </a:r>
            <a:r>
              <a:rPr lang="fr-FR" sz="2400" dirty="0" err="1">
                <a:cs typeface="Calibri" panose="020F0502020204030204" pitchFamily="34" charset="0"/>
              </a:rPr>
              <a:t>object</a:t>
            </a:r>
            <a:r>
              <a:rPr lang="fr-FR" sz="2400" dirty="0">
                <a:cs typeface="Calibri" panose="020F0502020204030204" pitchFamily="34" charset="0"/>
              </a:rPr>
              <a:t>, monument of the </a:t>
            </a:r>
            <a:r>
              <a:rPr lang="fr-FR" sz="2400" dirty="0" err="1">
                <a:cs typeface="Calibri" panose="020F0502020204030204" pitchFamily="34" charset="0"/>
              </a:rPr>
              <a:t>past</a:t>
            </a:r>
            <a:r>
              <a:rPr lang="fr-FR" sz="2400" dirty="0">
                <a:cs typeface="Calibri" panose="020F0502020204030204" pitchFamily="34" charset="0"/>
              </a:rPr>
              <a:t>, etc.</a:t>
            </a:r>
            <a:endParaRPr lang="ru-RU" sz="2400" dirty="0">
              <a:cs typeface="Calibri" panose="020F0502020204030204" pitchFamily="34" charset="0"/>
            </a:endParaRPr>
          </a:p>
          <a:p>
            <a:pPr marL="342900" indent="-342900" algn="just">
              <a:buFont typeface="Arial" panose="020B0604020202020204" pitchFamily="34" charset="0"/>
              <a:buChar char="•"/>
            </a:pPr>
            <a:r>
              <a:rPr lang="fr-FR" sz="2400" dirty="0">
                <a:cs typeface="Calibri" panose="020F0502020204030204" pitchFamily="34" charset="0"/>
              </a:rPr>
              <a:t>a carrier of information on the basis of </a:t>
            </a:r>
            <a:r>
              <a:rPr lang="fr-FR" sz="2400" dirty="0" err="1">
                <a:cs typeface="Calibri" panose="020F0502020204030204" pitchFamily="34" charset="0"/>
              </a:rPr>
              <a:t>which</a:t>
            </a:r>
            <a:r>
              <a:rPr lang="fr-FR" sz="2400" dirty="0">
                <a:cs typeface="Calibri" panose="020F0502020204030204" pitchFamily="34" charset="0"/>
              </a:rPr>
              <a:t> the </a:t>
            </a:r>
            <a:r>
              <a:rPr lang="fr-FR" sz="2400" dirty="0" err="1">
                <a:cs typeface="Calibri" panose="020F0502020204030204" pitchFamily="34" charset="0"/>
              </a:rPr>
              <a:t>historian</a:t>
            </a:r>
            <a:r>
              <a:rPr lang="fr-FR" sz="2400" dirty="0">
                <a:cs typeface="Calibri" panose="020F0502020204030204" pitchFamily="34" charset="0"/>
              </a:rPr>
              <a:t> </a:t>
            </a:r>
            <a:r>
              <a:rPr lang="fr-FR" sz="2400" dirty="0" err="1">
                <a:cs typeface="Calibri" panose="020F0502020204030204" pitchFamily="34" charset="0"/>
              </a:rPr>
              <a:t>reconstructs</a:t>
            </a:r>
            <a:r>
              <a:rPr lang="fr-FR" sz="2400" dirty="0">
                <a:cs typeface="Calibri" panose="020F0502020204030204" pitchFamily="34" charset="0"/>
              </a:rPr>
              <a:t> the social and </a:t>
            </a:r>
            <a:r>
              <a:rPr lang="fr-FR" sz="2400" dirty="0" err="1">
                <a:cs typeface="Calibri" panose="020F0502020204030204" pitchFamily="34" charset="0"/>
              </a:rPr>
              <a:t>historical</a:t>
            </a:r>
            <a:r>
              <a:rPr lang="fr-FR" sz="2400" dirty="0">
                <a:cs typeface="Calibri" panose="020F0502020204030204" pitchFamily="34" charset="0"/>
              </a:rPr>
              <a:t> reality </a:t>
            </a:r>
            <a:r>
              <a:rPr lang="fr-FR" sz="2400" dirty="0" err="1">
                <a:cs typeface="Calibri" panose="020F0502020204030204" pitchFamily="34" charset="0"/>
              </a:rPr>
              <a:t>he</a:t>
            </a:r>
            <a:r>
              <a:rPr lang="fr-FR" sz="2400" dirty="0">
                <a:cs typeface="Calibri" panose="020F0502020204030204" pitchFamily="34" charset="0"/>
              </a:rPr>
              <a:t> </a:t>
            </a:r>
            <a:r>
              <a:rPr lang="fr-FR" sz="2400" dirty="0" err="1">
                <a:cs typeface="Calibri" panose="020F0502020204030204" pitchFamily="34" charset="0"/>
              </a:rPr>
              <a:t>is</a:t>
            </a:r>
            <a:r>
              <a:rPr lang="fr-FR" sz="2400" dirty="0">
                <a:cs typeface="Calibri" panose="020F0502020204030204" pitchFamily="34" charset="0"/>
              </a:rPr>
              <a:t> </a:t>
            </a:r>
            <a:r>
              <a:rPr lang="fr-FR" sz="2400" dirty="0" err="1">
                <a:cs typeface="Calibri" panose="020F0502020204030204" pitchFamily="34" charset="0"/>
              </a:rPr>
              <a:t>studying</a:t>
            </a:r>
            <a:r>
              <a:rPr lang="fr-FR" sz="2400" dirty="0">
                <a:cs typeface="Calibri" panose="020F0502020204030204" pitchFamily="34" charset="0"/>
              </a:rPr>
              <a:t>.</a:t>
            </a:r>
            <a:endParaRPr lang="ru-RU" sz="2400" dirty="0">
              <a:cs typeface="Calibri" panose="020F0502020204030204" pitchFamily="34" charset="0"/>
            </a:endParaRPr>
          </a:p>
          <a:p>
            <a:pPr marL="342900" indent="-342900" algn="just">
              <a:buFont typeface="Arial" panose="020B0604020202020204" pitchFamily="34" charset="0"/>
              <a:buChar char="•"/>
            </a:pPr>
            <a:r>
              <a:rPr lang="fr-FR" sz="2400" b="1" dirty="0" err="1">
                <a:cs typeface="Calibri" panose="020F0502020204030204" pitchFamily="34" charset="0"/>
              </a:rPr>
              <a:t>objectified</a:t>
            </a:r>
            <a:r>
              <a:rPr lang="fr-FR" sz="2400" b="1" dirty="0">
                <a:cs typeface="Calibri" panose="020F0502020204030204" pitchFamily="34" charset="0"/>
              </a:rPr>
              <a:t> </a:t>
            </a:r>
            <a:r>
              <a:rPr lang="fr-FR" sz="2400" b="1" dirty="0" err="1">
                <a:cs typeface="Calibri" panose="020F0502020204030204" pitchFamily="34" charset="0"/>
              </a:rPr>
              <a:t>result</a:t>
            </a:r>
            <a:r>
              <a:rPr lang="fr-FR" sz="2400" b="1" dirty="0">
                <a:cs typeface="Calibri" panose="020F0502020204030204" pitchFamily="34" charset="0"/>
              </a:rPr>
              <a:t> of </a:t>
            </a:r>
            <a:r>
              <a:rPr lang="fr-FR" sz="2400" b="1" dirty="0" err="1">
                <a:cs typeface="Calibri" panose="020F0502020204030204" pitchFamily="34" charset="0"/>
              </a:rPr>
              <a:t>human</a:t>
            </a:r>
            <a:r>
              <a:rPr lang="fr-FR" sz="2400" b="1" dirty="0">
                <a:cs typeface="Calibri" panose="020F0502020204030204" pitchFamily="34" charset="0"/>
              </a:rPr>
              <a:t> </a:t>
            </a:r>
            <a:r>
              <a:rPr lang="fr-FR" sz="2400" b="1" dirty="0" err="1">
                <a:cs typeface="Calibri" panose="020F0502020204030204" pitchFamily="34" charset="0"/>
              </a:rPr>
              <a:t>creative</a:t>
            </a:r>
            <a:r>
              <a:rPr lang="fr-FR" sz="2400" b="1" dirty="0">
                <a:cs typeface="Calibri" panose="020F0502020204030204" pitchFamily="34" charset="0"/>
              </a:rPr>
              <a:t> </a:t>
            </a:r>
            <a:r>
              <a:rPr lang="fr-FR" sz="2400" b="1" dirty="0" err="1">
                <a:cs typeface="Calibri" panose="020F0502020204030204" pitchFamily="34" charset="0"/>
              </a:rPr>
              <a:t>activity</a:t>
            </a:r>
            <a:r>
              <a:rPr lang="fr-FR" sz="2400" b="1" dirty="0">
                <a:cs typeface="Calibri" panose="020F0502020204030204" pitchFamily="34" charset="0"/>
              </a:rPr>
              <a:t>/cultural </a:t>
            </a:r>
            <a:r>
              <a:rPr lang="fr-FR" sz="2400" b="1" dirty="0" err="1">
                <a:cs typeface="Calibri" panose="020F0502020204030204" pitchFamily="34" charset="0"/>
              </a:rPr>
              <a:t>product</a:t>
            </a:r>
            <a:r>
              <a:rPr lang="fr-FR" sz="2400" b="1" dirty="0">
                <a:cs typeface="Calibri" panose="020F0502020204030204" pitchFamily="34" charset="0"/>
              </a:rPr>
              <a:t> </a:t>
            </a:r>
            <a:r>
              <a:rPr lang="fr-FR" sz="2400" b="1" dirty="0" err="1">
                <a:cs typeface="Calibri" panose="020F0502020204030204" pitchFamily="34" charset="0"/>
              </a:rPr>
              <a:t>used</a:t>
            </a:r>
            <a:r>
              <a:rPr lang="fr-FR" sz="2400" b="1" dirty="0">
                <a:cs typeface="Calibri" panose="020F0502020204030204" pitchFamily="34" charset="0"/>
              </a:rPr>
              <a:t> to </a:t>
            </a:r>
            <a:r>
              <a:rPr lang="fr-FR" sz="2400" b="1" dirty="0" err="1">
                <a:cs typeface="Calibri" panose="020F0502020204030204" pitchFamily="34" charset="0"/>
              </a:rPr>
              <a:t>study</a:t>
            </a:r>
            <a:r>
              <a:rPr lang="fr-FR" sz="2400" b="1" dirty="0">
                <a:cs typeface="Calibri" panose="020F0502020204030204" pitchFamily="34" charset="0"/>
              </a:rPr>
              <a:t>/</a:t>
            </a:r>
            <a:r>
              <a:rPr lang="fr-FR" sz="2400" b="1" dirty="0" err="1">
                <a:cs typeface="Calibri" panose="020F0502020204030204" pitchFamily="34" charset="0"/>
              </a:rPr>
              <a:t>understand</a:t>
            </a:r>
            <a:r>
              <a:rPr lang="fr-FR" sz="2400" b="1" dirty="0">
                <a:cs typeface="Calibri" panose="020F0502020204030204" pitchFamily="34" charset="0"/>
              </a:rPr>
              <a:t> a </a:t>
            </a:r>
            <a:r>
              <a:rPr lang="fr-FR" sz="2400" b="1" dirty="0" err="1">
                <a:cs typeface="Calibri" panose="020F0502020204030204" pitchFamily="34" charset="0"/>
              </a:rPr>
              <a:t>person</a:t>
            </a:r>
            <a:r>
              <a:rPr lang="fr-FR" sz="2400" b="1" dirty="0">
                <a:cs typeface="Calibri" panose="020F0502020204030204" pitchFamily="34" charset="0"/>
              </a:rPr>
              <a:t>, society, culture.</a:t>
            </a:r>
            <a:endParaRPr lang="ru-RU" sz="2400" b="1" dirty="0">
              <a:cs typeface="Calibri" panose="020F0502020204030204" pitchFamily="34" charset="0"/>
            </a:endParaRPr>
          </a:p>
          <a:p>
            <a:pPr marL="342900" indent="-342900" algn="just">
              <a:buFont typeface="Arial" panose="020B0604020202020204" pitchFamily="34" charset="0"/>
              <a:buChar char="•"/>
            </a:pPr>
            <a:r>
              <a:rPr lang="fr-FR" sz="2400" dirty="0">
                <a:cs typeface="Calibri" panose="020F0502020204030204" pitchFamily="34" charset="0"/>
              </a:rPr>
              <a:t>documents are traces </a:t>
            </a:r>
            <a:r>
              <a:rPr lang="fr-FR" sz="2400" dirty="0" err="1">
                <a:cs typeface="Calibri" panose="020F0502020204030204" pitchFamily="34" charset="0"/>
              </a:rPr>
              <a:t>left</a:t>
            </a:r>
            <a:r>
              <a:rPr lang="fr-FR" sz="2400" dirty="0">
                <a:cs typeface="Calibri" panose="020F0502020204030204" pitchFamily="34" charset="0"/>
              </a:rPr>
              <a:t> by the </a:t>
            </a:r>
            <a:r>
              <a:rPr lang="fr-FR" sz="2400" dirty="0" err="1">
                <a:cs typeface="Calibri" panose="020F0502020204030204" pitchFamily="34" charset="0"/>
              </a:rPr>
              <a:t>thoughts</a:t>
            </a:r>
            <a:r>
              <a:rPr lang="fr-FR" sz="2400" dirty="0">
                <a:cs typeface="Calibri" panose="020F0502020204030204" pitchFamily="34" charset="0"/>
              </a:rPr>
              <a:t> and actions of people </a:t>
            </a:r>
            <a:r>
              <a:rPr lang="fr-FR" sz="2400" dirty="0" err="1">
                <a:cs typeface="Calibri" panose="020F0502020204030204" pitchFamily="34" charset="0"/>
              </a:rPr>
              <a:t>who</a:t>
            </a:r>
            <a:r>
              <a:rPr lang="fr-FR" sz="2400" dirty="0">
                <a:cs typeface="Calibri" panose="020F0502020204030204" pitchFamily="34" charset="0"/>
              </a:rPr>
              <a:t> once </a:t>
            </a:r>
            <a:r>
              <a:rPr lang="fr-FR" sz="2400" dirty="0" err="1">
                <a:cs typeface="Calibri" panose="020F0502020204030204" pitchFamily="34" charset="0"/>
              </a:rPr>
              <a:t>lived</a:t>
            </a:r>
            <a:r>
              <a:rPr lang="fr-FR" sz="2400" dirty="0">
                <a:cs typeface="Calibri" panose="020F0502020204030204" pitchFamily="34" charset="0"/>
              </a:rPr>
              <a:t>.</a:t>
            </a:r>
            <a:endParaRPr lang="ru-RU" sz="2400" dirty="0">
              <a:cs typeface="Calibri" panose="020F0502020204030204" pitchFamily="34" charset="0"/>
            </a:endParaRPr>
          </a:p>
          <a:p>
            <a:pPr marL="342900" indent="-342900" algn="just">
              <a:buFont typeface="Arial" panose="020B0604020202020204" pitchFamily="34" charset="0"/>
              <a:buChar char="•"/>
            </a:pPr>
            <a:r>
              <a:rPr lang="fr-FR" sz="2400" dirty="0">
                <a:cs typeface="Calibri" panose="020F0502020204030204" pitchFamily="34" charset="0"/>
              </a:rPr>
              <a:t>source can </a:t>
            </a:r>
            <a:r>
              <a:rPr lang="fr-FR" sz="2400" dirty="0" err="1">
                <a:cs typeface="Calibri" panose="020F0502020204030204" pitchFamily="34" charset="0"/>
              </a:rPr>
              <a:t>be</a:t>
            </a:r>
            <a:r>
              <a:rPr lang="fr-FR" sz="2400" dirty="0">
                <a:cs typeface="Calibri" panose="020F0502020204030204" pitchFamily="34" charset="0"/>
              </a:rPr>
              <a:t> "</a:t>
            </a:r>
            <a:r>
              <a:rPr lang="fr-FR" sz="2400" dirty="0" err="1">
                <a:cs typeface="Calibri" panose="020F0502020204030204" pitchFamily="34" charset="0"/>
              </a:rPr>
              <a:t>everything</a:t>
            </a:r>
            <a:r>
              <a:rPr lang="fr-FR" sz="2400" dirty="0">
                <a:cs typeface="Calibri" panose="020F0502020204030204" pitchFamily="34" charset="0"/>
              </a:rPr>
              <a:t> </a:t>
            </a:r>
            <a:r>
              <a:rPr lang="fr-FR" sz="2400" dirty="0" err="1">
                <a:cs typeface="Calibri" panose="020F0502020204030204" pitchFamily="34" charset="0"/>
              </a:rPr>
              <a:t>that</a:t>
            </a:r>
            <a:r>
              <a:rPr lang="fr-FR" sz="2400" dirty="0">
                <a:cs typeface="Calibri" panose="020F0502020204030204" pitchFamily="34" charset="0"/>
              </a:rPr>
              <a:t>, </a:t>
            </a:r>
            <a:r>
              <a:rPr lang="fr-FR" sz="2400" dirty="0" err="1">
                <a:cs typeface="Calibri" panose="020F0502020204030204" pitchFamily="34" charset="0"/>
              </a:rPr>
              <a:t>belonging</a:t>
            </a:r>
            <a:r>
              <a:rPr lang="fr-FR" sz="2400" dirty="0">
                <a:cs typeface="Calibri" panose="020F0502020204030204" pitchFamily="34" charset="0"/>
              </a:rPr>
              <a:t> to man, </a:t>
            </a:r>
            <a:r>
              <a:rPr lang="fr-FR" sz="2400" dirty="0" err="1">
                <a:cs typeface="Calibri" panose="020F0502020204030204" pitchFamily="34" charset="0"/>
              </a:rPr>
              <a:t>depends</a:t>
            </a:r>
            <a:r>
              <a:rPr lang="fr-FR" sz="2400" dirty="0">
                <a:cs typeface="Calibri" panose="020F0502020204030204" pitchFamily="34" charset="0"/>
              </a:rPr>
              <a:t> on </a:t>
            </a:r>
            <a:r>
              <a:rPr lang="fr-FR" sz="2400" dirty="0" err="1">
                <a:cs typeface="Calibri" panose="020F0502020204030204" pitchFamily="34" charset="0"/>
              </a:rPr>
              <a:t>him</a:t>
            </a:r>
            <a:r>
              <a:rPr lang="fr-FR" sz="2400" dirty="0">
                <a:cs typeface="Calibri" panose="020F0502020204030204" pitchFamily="34" charset="0"/>
              </a:rPr>
              <a:t>, serves </a:t>
            </a:r>
            <a:r>
              <a:rPr lang="fr-FR" sz="2400" dirty="0" err="1">
                <a:cs typeface="Calibri" panose="020F0502020204030204" pitchFamily="34" charset="0"/>
              </a:rPr>
              <a:t>him</a:t>
            </a:r>
            <a:r>
              <a:rPr lang="fr-FR" sz="2400" dirty="0">
                <a:cs typeface="Calibri" panose="020F0502020204030204" pitchFamily="34" charset="0"/>
              </a:rPr>
              <a:t>, expresses </a:t>
            </a:r>
            <a:r>
              <a:rPr lang="fr-FR" sz="2400" dirty="0" err="1">
                <a:cs typeface="Calibri" panose="020F0502020204030204" pitchFamily="34" charset="0"/>
              </a:rPr>
              <a:t>him</a:t>
            </a:r>
            <a:r>
              <a:rPr lang="fr-FR" sz="2400" dirty="0">
                <a:cs typeface="Calibri" panose="020F0502020204030204" pitchFamily="34" charset="0"/>
              </a:rPr>
              <a:t>, signifies </a:t>
            </a:r>
            <a:r>
              <a:rPr lang="fr-FR" sz="2400" dirty="0" err="1">
                <a:cs typeface="Calibri" panose="020F0502020204030204" pitchFamily="34" charset="0"/>
              </a:rPr>
              <a:t>his</a:t>
            </a:r>
            <a:r>
              <a:rPr lang="fr-FR" sz="2400" dirty="0">
                <a:cs typeface="Calibri" panose="020F0502020204030204" pitchFamily="34" charset="0"/>
              </a:rPr>
              <a:t> </a:t>
            </a:r>
            <a:r>
              <a:rPr lang="fr-FR" sz="2400" dirty="0" err="1">
                <a:cs typeface="Calibri" panose="020F0502020204030204" pitchFamily="34" charset="0"/>
              </a:rPr>
              <a:t>presence</a:t>
            </a:r>
            <a:r>
              <a:rPr lang="fr-FR" sz="2400" dirty="0">
                <a:cs typeface="Calibri" panose="020F0502020204030204" pitchFamily="34" charset="0"/>
              </a:rPr>
              <a:t>, </a:t>
            </a:r>
            <a:r>
              <a:rPr lang="fr-FR" sz="2400" dirty="0" err="1">
                <a:cs typeface="Calibri" panose="020F0502020204030204" pitchFamily="34" charset="0"/>
              </a:rPr>
              <a:t>activities</a:t>
            </a:r>
            <a:r>
              <a:rPr lang="fr-FR" sz="2400" dirty="0">
                <a:cs typeface="Calibri" panose="020F0502020204030204" pitchFamily="34" charset="0"/>
              </a:rPr>
              <a:t>, tastes and </a:t>
            </a:r>
            <a:r>
              <a:rPr lang="fr-FR" sz="2400" dirty="0" err="1">
                <a:cs typeface="Calibri" panose="020F0502020204030204" pitchFamily="34" charset="0"/>
              </a:rPr>
              <a:t>ways</a:t>
            </a:r>
            <a:r>
              <a:rPr lang="fr-FR" sz="2400" dirty="0">
                <a:cs typeface="Calibri" panose="020F0502020204030204" pitchFamily="34" charset="0"/>
              </a:rPr>
              <a:t> of </a:t>
            </a:r>
            <a:r>
              <a:rPr lang="fr-FR" sz="2400" dirty="0" err="1">
                <a:cs typeface="Calibri" panose="020F0502020204030204" pitchFamily="34" charset="0"/>
              </a:rPr>
              <a:t>being</a:t>
            </a:r>
            <a:r>
              <a:rPr lang="fr-FR" sz="2400" dirty="0">
                <a:cs typeface="Calibri" panose="020F0502020204030204" pitchFamily="34" charset="0"/>
              </a:rPr>
              <a:t> </a:t>
            </a:r>
            <a:r>
              <a:rPr lang="fr-FR" sz="2400" dirty="0" err="1">
                <a:cs typeface="Calibri" panose="020F0502020204030204" pitchFamily="34" charset="0"/>
              </a:rPr>
              <a:t>human</a:t>
            </a:r>
            <a:r>
              <a:rPr lang="fr-FR" sz="2400" dirty="0">
                <a:cs typeface="Calibri" panose="020F0502020204030204" pitchFamily="34" charset="0"/>
              </a:rPr>
              <a:t>"</a:t>
            </a:r>
          </a:p>
        </p:txBody>
      </p:sp>
    </p:spTree>
    <p:extLst>
      <p:ext uri="{BB962C8B-B14F-4D97-AF65-F5344CB8AC3E}">
        <p14:creationId xmlns:p14="http://schemas.microsoft.com/office/powerpoint/2010/main" val="392083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a:xfrm>
            <a:off x="514027" y="936347"/>
            <a:ext cx="5245560" cy="777025"/>
          </a:xfrm>
        </p:spPr>
        <p:txBody>
          <a:bodyPr>
            <a:normAutofit/>
          </a:bodyPr>
          <a:lstStyle/>
          <a:p>
            <a:r>
              <a:rPr lang="en-US" sz="3600" dirty="0"/>
              <a:t>Historical sources (2) </a:t>
            </a:r>
            <a:endParaRPr lang="ru-RU" sz="3600" dirty="0"/>
          </a:p>
        </p:txBody>
      </p:sp>
      <p:sp>
        <p:nvSpPr>
          <p:cNvPr id="4" name="Текст 3">
            <a:extLst>
              <a:ext uri="{FF2B5EF4-FFF2-40B4-BE49-F238E27FC236}">
                <a16:creationId xmlns:a16="http://schemas.microsoft.com/office/drawing/2014/main" id="{985EFA28-570A-F647-B2F7-A43359726B4F}"/>
              </a:ext>
            </a:extLst>
          </p:cNvPr>
          <p:cNvSpPr>
            <a:spLocks noGrp="1"/>
          </p:cNvSpPr>
          <p:nvPr>
            <p:ph type="body" sz="quarter" idx="12"/>
          </p:nvPr>
        </p:nvSpPr>
        <p:spPr>
          <a:xfrm>
            <a:off x="525750" y="1713372"/>
            <a:ext cx="11326874" cy="4873408"/>
          </a:xfrm>
        </p:spPr>
        <p:txBody>
          <a:bodyPr>
            <a:normAutofit/>
          </a:bodyPr>
          <a:lstStyle/>
          <a:p>
            <a:pPr marL="342900" indent="-342900">
              <a:buFont typeface="Arial" panose="020B0604020202020204" pitchFamily="34" charset="0"/>
              <a:buChar char="•"/>
            </a:pPr>
            <a:r>
              <a:rPr lang="fr-FR" sz="2800" dirty="0">
                <a:cs typeface="Calibri" panose="020F0502020204030204" pitchFamily="34" charset="0"/>
              </a:rPr>
              <a:t>types (</a:t>
            </a:r>
            <a:r>
              <a:rPr lang="fr-FR" sz="2800" dirty="0" err="1">
                <a:cs typeface="Calibri" panose="020F0502020204030204" pitchFamily="34" charset="0"/>
              </a:rPr>
              <a:t>according</a:t>
            </a:r>
            <a:r>
              <a:rPr lang="fr-FR" sz="2800" dirty="0">
                <a:cs typeface="Calibri" panose="020F0502020204030204" pitchFamily="34" charset="0"/>
              </a:rPr>
              <a:t> to the </a:t>
            </a:r>
            <a:r>
              <a:rPr lang="fr-FR" sz="2800" dirty="0" err="1">
                <a:cs typeface="Calibri" panose="020F0502020204030204" pitchFamily="34" charset="0"/>
              </a:rPr>
              <a:t>difference</a:t>
            </a:r>
            <a:r>
              <a:rPr lang="fr-FR" sz="2800" dirty="0">
                <a:cs typeface="Calibri" panose="020F0502020204030204" pitchFamily="34" charset="0"/>
              </a:rPr>
              <a:t> in the </a:t>
            </a:r>
            <a:r>
              <a:rPr lang="fr-FR" sz="2800" dirty="0" err="1">
                <a:cs typeface="Calibri" panose="020F0502020204030204" pitchFamily="34" charset="0"/>
              </a:rPr>
              <a:t>principles</a:t>
            </a:r>
            <a:r>
              <a:rPr lang="fr-FR" sz="2800" dirty="0">
                <a:cs typeface="Calibri" panose="020F0502020204030204" pitchFamily="34" charset="0"/>
              </a:rPr>
              <a:t> of information </a:t>
            </a:r>
            <a:r>
              <a:rPr lang="fr-FR" sz="2800" dirty="0" err="1">
                <a:cs typeface="Calibri" panose="020F0502020204030204" pitchFamily="34" charset="0"/>
              </a:rPr>
              <a:t>storage</a:t>
            </a:r>
            <a:r>
              <a:rPr lang="fr-FR" sz="2800" dirty="0">
                <a:cs typeface="Calibri" panose="020F0502020204030204" pitchFamily="34" charset="0"/>
              </a:rPr>
              <a:t> and </a:t>
            </a:r>
            <a:r>
              <a:rPr lang="fr-FR" sz="2800" dirty="0" err="1">
                <a:cs typeface="Calibri" panose="020F0502020204030204" pitchFamily="34" charset="0"/>
              </a:rPr>
              <a:t>coding</a:t>
            </a:r>
            <a:r>
              <a:rPr lang="fr-FR" sz="2800" dirty="0">
                <a:cs typeface="Calibri" panose="020F0502020204030204" pitchFamily="34" charset="0"/>
              </a:rPr>
              <a:t>): </a:t>
            </a:r>
            <a:r>
              <a:rPr lang="fr-FR" sz="2800" dirty="0" err="1">
                <a:cs typeface="Calibri" panose="020F0502020204030204" pitchFamily="34" charset="0"/>
              </a:rPr>
              <a:t>written</a:t>
            </a:r>
            <a:r>
              <a:rPr lang="fr-FR" sz="2800" dirty="0">
                <a:cs typeface="Calibri" panose="020F0502020204030204" pitchFamily="34" charset="0"/>
              </a:rPr>
              <a:t>, </a:t>
            </a:r>
            <a:r>
              <a:rPr lang="fr-FR" sz="2800" dirty="0" err="1">
                <a:cs typeface="Calibri" panose="020F0502020204030204" pitchFamily="34" charset="0"/>
              </a:rPr>
              <a:t>material</a:t>
            </a:r>
            <a:r>
              <a:rPr lang="fr-FR" sz="2800" dirty="0">
                <a:cs typeface="Calibri" panose="020F0502020204030204" pitchFamily="34" charset="0"/>
              </a:rPr>
              <a:t>, </a:t>
            </a:r>
            <a:r>
              <a:rPr lang="fr-FR" sz="2800" dirty="0" err="1">
                <a:cs typeface="Calibri" panose="020F0502020204030204" pitchFamily="34" charset="0"/>
              </a:rPr>
              <a:t>ethnographic</a:t>
            </a:r>
            <a:r>
              <a:rPr lang="fr-FR" sz="2800" dirty="0">
                <a:cs typeface="Calibri" panose="020F0502020204030204" pitchFamily="34" charset="0"/>
              </a:rPr>
              <a:t>, oral, </a:t>
            </a:r>
            <a:r>
              <a:rPr lang="fr-FR" sz="2800" dirty="0" err="1">
                <a:cs typeface="Calibri" panose="020F0502020204030204" pitchFamily="34" charset="0"/>
              </a:rPr>
              <a:t>linguistic</a:t>
            </a:r>
            <a:r>
              <a:rPr lang="fr-FR" sz="2800" dirty="0">
                <a:cs typeface="Calibri" panose="020F0502020204030204" pitchFamily="34" charset="0"/>
              </a:rPr>
              <a:t>, </a:t>
            </a:r>
            <a:r>
              <a:rPr lang="fr-FR" sz="2800" dirty="0" err="1">
                <a:cs typeface="Calibri" panose="020F0502020204030204" pitchFamily="34" charset="0"/>
              </a:rPr>
              <a:t>audiovisual</a:t>
            </a:r>
            <a:endParaRPr lang="fr-FR" sz="2800" dirty="0">
              <a:cs typeface="Calibri" panose="020F0502020204030204" pitchFamily="34" charset="0"/>
            </a:endParaRPr>
          </a:p>
          <a:p>
            <a:pPr marL="342900" indent="-342900">
              <a:buFont typeface="Arial" panose="020B0604020202020204" pitchFamily="34" charset="0"/>
              <a:buChar char="•"/>
            </a:pPr>
            <a:r>
              <a:rPr lang="fr-FR" sz="2800" dirty="0" err="1">
                <a:cs typeface="Calibri" panose="020F0502020204030204" pitchFamily="34" charset="0"/>
              </a:rPr>
              <a:t>kinds</a:t>
            </a:r>
            <a:r>
              <a:rPr lang="fr-FR" sz="2800" dirty="0">
                <a:cs typeface="Calibri" panose="020F0502020204030204" pitchFamily="34" charset="0"/>
              </a:rPr>
              <a:t> of </a:t>
            </a:r>
            <a:r>
              <a:rPr lang="fr-FR" sz="2800" dirty="0" err="1">
                <a:cs typeface="Calibri" panose="020F0502020204030204" pitchFamily="34" charset="0"/>
              </a:rPr>
              <a:t>historical</a:t>
            </a:r>
            <a:r>
              <a:rPr lang="fr-FR" sz="2800" dirty="0">
                <a:cs typeface="Calibri" panose="020F0502020204030204" pitchFamily="34" charset="0"/>
              </a:rPr>
              <a:t> source - a </a:t>
            </a:r>
            <a:r>
              <a:rPr lang="fr-FR" sz="2800" dirty="0" err="1">
                <a:cs typeface="Calibri" panose="020F0502020204030204" pitchFamily="34" charset="0"/>
              </a:rPr>
              <a:t>historically</a:t>
            </a:r>
            <a:r>
              <a:rPr lang="fr-FR" sz="2800" dirty="0">
                <a:cs typeface="Calibri" panose="020F0502020204030204" pitchFamily="34" charset="0"/>
              </a:rPr>
              <a:t> </a:t>
            </a:r>
            <a:r>
              <a:rPr lang="fr-FR" sz="2800" dirty="0" err="1">
                <a:cs typeface="Calibri" panose="020F0502020204030204" pitchFamily="34" charset="0"/>
              </a:rPr>
              <a:t>formed</a:t>
            </a:r>
            <a:r>
              <a:rPr lang="fr-FR" sz="2800" dirty="0">
                <a:cs typeface="Calibri" panose="020F0502020204030204" pitchFamily="34" charset="0"/>
              </a:rPr>
              <a:t> set of sources, </a:t>
            </a:r>
            <a:r>
              <a:rPr lang="fr-FR" sz="2800" dirty="0" err="1">
                <a:cs typeface="Calibri" panose="020F0502020204030204" pitchFamily="34" charset="0"/>
              </a:rPr>
              <a:t>which</a:t>
            </a:r>
            <a:r>
              <a:rPr lang="fr-FR" sz="2800" dirty="0">
                <a:cs typeface="Calibri" panose="020F0502020204030204" pitchFamily="34" charset="0"/>
              </a:rPr>
              <a:t> </a:t>
            </a:r>
            <a:r>
              <a:rPr lang="fr-FR" sz="2800" dirty="0" err="1">
                <a:cs typeface="Calibri" panose="020F0502020204030204" pitchFamily="34" charset="0"/>
              </a:rPr>
              <a:t>is</a:t>
            </a:r>
            <a:r>
              <a:rPr lang="fr-FR" sz="2800" dirty="0">
                <a:cs typeface="Calibri" panose="020F0502020204030204" pitchFamily="34" charset="0"/>
              </a:rPr>
              <a:t> </a:t>
            </a:r>
            <a:r>
              <a:rPr lang="fr-FR" sz="2800" dirty="0" err="1">
                <a:cs typeface="Calibri" panose="020F0502020204030204" pitchFamily="34" charset="0"/>
              </a:rPr>
              <a:t>characterized</a:t>
            </a:r>
            <a:r>
              <a:rPr lang="fr-FR" sz="2800" dirty="0">
                <a:cs typeface="Calibri" panose="020F0502020204030204" pitchFamily="34" charset="0"/>
              </a:rPr>
              <a:t> by the </a:t>
            </a:r>
            <a:r>
              <a:rPr lang="fr-FR" sz="2800" dirty="0" err="1">
                <a:cs typeface="Calibri" panose="020F0502020204030204" pitchFamily="34" charset="0"/>
              </a:rPr>
              <a:t>uniformity</a:t>
            </a:r>
            <a:r>
              <a:rPr lang="fr-FR" sz="2800" dirty="0">
                <a:cs typeface="Calibri" panose="020F0502020204030204" pitchFamily="34" charset="0"/>
              </a:rPr>
              <a:t> of the </a:t>
            </a:r>
            <a:r>
              <a:rPr lang="fr-FR" sz="2800" dirty="0" err="1">
                <a:cs typeface="Calibri" panose="020F0502020204030204" pitchFamily="34" charset="0"/>
              </a:rPr>
              <a:t>internal</a:t>
            </a:r>
            <a:r>
              <a:rPr lang="fr-FR" sz="2800" dirty="0">
                <a:cs typeface="Calibri" panose="020F0502020204030204" pitchFamily="34" charset="0"/>
              </a:rPr>
              <a:t> </a:t>
            </a:r>
            <a:r>
              <a:rPr lang="fr-FR" sz="2800" dirty="0" err="1">
                <a:cs typeface="Calibri" panose="020F0502020204030204" pitchFamily="34" charset="0"/>
              </a:rPr>
              <a:t>form</a:t>
            </a:r>
            <a:r>
              <a:rPr lang="fr-FR" sz="2800" dirty="0">
                <a:cs typeface="Calibri" panose="020F0502020204030204" pitchFamily="34" charset="0"/>
              </a:rPr>
              <a:t> of the source (structure), </a:t>
            </a:r>
            <a:r>
              <a:rPr lang="fr-FR" sz="2800" dirty="0" err="1">
                <a:cs typeface="Calibri" panose="020F0502020204030204" pitchFamily="34" charset="0"/>
              </a:rPr>
              <a:t>resulting</a:t>
            </a:r>
            <a:r>
              <a:rPr lang="fr-FR" sz="2800" dirty="0">
                <a:cs typeface="Calibri" panose="020F0502020204030204" pitchFamily="34" charset="0"/>
              </a:rPr>
              <a:t> </a:t>
            </a:r>
            <a:r>
              <a:rPr lang="fr-FR" sz="2800" dirty="0" err="1">
                <a:cs typeface="Calibri" panose="020F0502020204030204" pitchFamily="34" charset="0"/>
              </a:rPr>
              <a:t>from</a:t>
            </a:r>
            <a:r>
              <a:rPr lang="fr-FR" sz="2800" dirty="0">
                <a:cs typeface="Calibri" panose="020F0502020204030204" pitchFamily="34" charset="0"/>
              </a:rPr>
              <a:t> the </a:t>
            </a:r>
            <a:r>
              <a:rPr lang="fr-FR" sz="2800" dirty="0" err="1">
                <a:cs typeface="Calibri" panose="020F0502020204030204" pitchFamily="34" charset="0"/>
              </a:rPr>
              <a:t>unity</a:t>
            </a:r>
            <a:r>
              <a:rPr lang="fr-FR" sz="2800" dirty="0">
                <a:cs typeface="Calibri" panose="020F0502020204030204" pitchFamily="34" charset="0"/>
              </a:rPr>
              <a:t> of </a:t>
            </a:r>
            <a:r>
              <a:rPr lang="fr-FR" sz="2800" dirty="0" err="1">
                <a:cs typeface="Calibri" panose="020F0502020204030204" pitchFamily="34" charset="0"/>
              </a:rPr>
              <a:t>origin</a:t>
            </a:r>
            <a:r>
              <a:rPr lang="fr-FR" sz="2800" dirty="0">
                <a:cs typeface="Calibri" panose="020F0502020204030204" pitchFamily="34" charset="0"/>
              </a:rPr>
              <a:t>, content, </a:t>
            </a:r>
            <a:r>
              <a:rPr lang="fr-FR" sz="2800" dirty="0" err="1">
                <a:cs typeface="Calibri" panose="020F0502020204030204" pitchFamily="34" charset="0"/>
              </a:rPr>
              <a:t>purpose</a:t>
            </a:r>
            <a:r>
              <a:rPr lang="fr-FR" sz="2800" dirty="0">
                <a:cs typeface="Calibri" panose="020F0502020204030204" pitchFamily="34" charset="0"/>
              </a:rPr>
              <a:t> of the source at </a:t>
            </a:r>
            <a:r>
              <a:rPr lang="fr-FR" sz="2800" dirty="0" err="1">
                <a:cs typeface="Calibri" panose="020F0502020204030204" pitchFamily="34" charset="0"/>
              </a:rPr>
              <a:t>its</a:t>
            </a:r>
            <a:r>
              <a:rPr lang="fr-FR" sz="2800" dirty="0">
                <a:cs typeface="Calibri" panose="020F0502020204030204" pitchFamily="34" charset="0"/>
              </a:rPr>
              <a:t> </a:t>
            </a:r>
            <a:r>
              <a:rPr lang="fr-FR" sz="2800" dirty="0" err="1">
                <a:cs typeface="Calibri" panose="020F0502020204030204" pitchFamily="34" charset="0"/>
              </a:rPr>
              <a:t>creation</a:t>
            </a:r>
            <a:r>
              <a:rPr lang="fr-FR" sz="2800" dirty="0">
                <a:cs typeface="Calibri" panose="020F0502020204030204" pitchFamily="34" charset="0"/>
              </a:rPr>
              <a:t>: </a:t>
            </a:r>
            <a:r>
              <a:rPr lang="fr-FR" sz="2800" dirty="0" err="1">
                <a:cs typeface="Calibri" panose="020F0502020204030204" pitchFamily="34" charset="0"/>
              </a:rPr>
              <a:t>memoirs</a:t>
            </a:r>
            <a:r>
              <a:rPr lang="fr-FR" sz="2800" dirty="0">
                <a:cs typeface="Calibri" panose="020F0502020204030204" pitchFamily="34" charset="0"/>
              </a:rPr>
              <a:t>, </a:t>
            </a:r>
            <a:r>
              <a:rPr lang="fr-FR" sz="2800" dirty="0" err="1">
                <a:cs typeface="Calibri" panose="020F0502020204030204" pitchFamily="34" charset="0"/>
              </a:rPr>
              <a:t>letters</a:t>
            </a:r>
            <a:r>
              <a:rPr lang="fr-FR" sz="2800" dirty="0">
                <a:cs typeface="Calibri" panose="020F0502020204030204" pitchFamily="34" charset="0"/>
              </a:rPr>
              <a:t>, </a:t>
            </a:r>
            <a:r>
              <a:rPr lang="fr-FR" sz="2800" dirty="0" err="1">
                <a:cs typeface="Calibri" panose="020F0502020204030204" pitchFamily="34" charset="0"/>
              </a:rPr>
              <a:t>periodicals</a:t>
            </a:r>
            <a:r>
              <a:rPr lang="fr-FR" sz="2800" dirty="0">
                <a:cs typeface="Calibri" panose="020F0502020204030204" pitchFamily="34" charset="0"/>
              </a:rPr>
              <a:t>, </a:t>
            </a:r>
            <a:r>
              <a:rPr lang="fr-FR" sz="2800" dirty="0" err="1">
                <a:cs typeface="Calibri" panose="020F0502020204030204" pitchFamily="34" charset="0"/>
              </a:rPr>
              <a:t>accounting</a:t>
            </a:r>
            <a:r>
              <a:rPr lang="fr-FR" sz="2800" dirty="0">
                <a:cs typeface="Calibri" panose="020F0502020204030204" pitchFamily="34" charset="0"/>
              </a:rPr>
              <a:t> documents, </a:t>
            </a:r>
            <a:r>
              <a:rPr lang="fr-FR" sz="2800" dirty="0" err="1">
                <a:cs typeface="Calibri" panose="020F0502020204030204" pitchFamily="34" charset="0"/>
              </a:rPr>
              <a:t>statistics</a:t>
            </a:r>
            <a:r>
              <a:rPr lang="fr-FR" sz="2800" dirty="0">
                <a:cs typeface="Calibri" panose="020F0502020204030204" pitchFamily="34" charset="0"/>
              </a:rPr>
              <a:t>, etc.</a:t>
            </a:r>
          </a:p>
          <a:p>
            <a:pPr marL="342900" indent="-342900">
              <a:buFont typeface="Arial" panose="020B0604020202020204" pitchFamily="34" charset="0"/>
              <a:buChar char="•"/>
            </a:pPr>
            <a:r>
              <a:rPr lang="en-US" sz="2800" b="1" dirty="0">
                <a:cs typeface="Calibri" panose="020F0502020204030204" pitchFamily="34" charset="0"/>
              </a:rPr>
              <a:t>c</a:t>
            </a:r>
            <a:r>
              <a:rPr lang="fr-FR" sz="2800" b="1" dirty="0" err="1">
                <a:cs typeface="Calibri" panose="020F0502020204030204" pitchFamily="34" charset="0"/>
              </a:rPr>
              <a:t>riterion</a:t>
            </a:r>
            <a:r>
              <a:rPr lang="fr-FR" sz="2800" b="1" dirty="0">
                <a:cs typeface="Calibri" panose="020F0502020204030204" pitchFamily="34" charset="0"/>
              </a:rPr>
              <a:t> of "</a:t>
            </a:r>
            <a:r>
              <a:rPr lang="fr-FR" sz="2800" b="1" dirty="0" err="1">
                <a:cs typeface="Calibri" panose="020F0502020204030204" pitchFamily="34" charset="0"/>
              </a:rPr>
              <a:t>purposefulness</a:t>
            </a:r>
            <a:r>
              <a:rPr lang="fr-FR" sz="2800" b="1" dirty="0">
                <a:cs typeface="Calibri" panose="020F0502020204030204" pitchFamily="34" charset="0"/>
              </a:rPr>
              <a:t>" of the </a:t>
            </a:r>
            <a:r>
              <a:rPr lang="fr-FR" sz="2800" b="1" dirty="0" err="1">
                <a:cs typeface="Calibri" panose="020F0502020204030204" pitchFamily="34" charset="0"/>
              </a:rPr>
              <a:t>author</a:t>
            </a:r>
            <a:r>
              <a:rPr lang="fr-FR" sz="2800" b="1" dirty="0">
                <a:cs typeface="Calibri" panose="020F0502020204030204" pitchFamily="34" charset="0"/>
              </a:rPr>
              <a:t> of the source </a:t>
            </a:r>
          </a:p>
          <a:p>
            <a:pPr marL="342900" indent="-342900">
              <a:buFont typeface="Arial" panose="020B0604020202020204" pitchFamily="34" charset="0"/>
              <a:buChar char="•"/>
            </a:pPr>
            <a:r>
              <a:rPr lang="fr-FR" sz="2800" dirty="0" err="1">
                <a:cs typeface="Calibri" panose="020F0502020204030204" pitchFamily="34" charset="0"/>
              </a:rPr>
              <a:t>subjectivity</a:t>
            </a:r>
            <a:r>
              <a:rPr lang="fr-FR" sz="2800" dirty="0">
                <a:cs typeface="Calibri" panose="020F0502020204030204" pitchFamily="34" charset="0"/>
              </a:rPr>
              <a:t> </a:t>
            </a:r>
            <a:endParaRPr lang="en-US" sz="2800" dirty="0"/>
          </a:p>
        </p:txBody>
      </p:sp>
    </p:spTree>
    <p:extLst>
      <p:ext uri="{BB962C8B-B14F-4D97-AF65-F5344CB8AC3E}">
        <p14:creationId xmlns:p14="http://schemas.microsoft.com/office/powerpoint/2010/main" val="3770980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a:xfrm>
            <a:off x="514027" y="936347"/>
            <a:ext cx="5245560" cy="777025"/>
          </a:xfrm>
        </p:spPr>
        <p:txBody>
          <a:bodyPr>
            <a:normAutofit/>
          </a:bodyPr>
          <a:lstStyle/>
          <a:p>
            <a:r>
              <a:rPr lang="en-US" sz="3600" dirty="0"/>
              <a:t>Working with sources</a:t>
            </a:r>
            <a:endParaRPr lang="ru-RU" sz="3600" dirty="0"/>
          </a:p>
        </p:txBody>
      </p:sp>
      <p:sp>
        <p:nvSpPr>
          <p:cNvPr id="4" name="Текст 3">
            <a:extLst>
              <a:ext uri="{FF2B5EF4-FFF2-40B4-BE49-F238E27FC236}">
                <a16:creationId xmlns:a16="http://schemas.microsoft.com/office/drawing/2014/main" id="{985EFA28-570A-F647-B2F7-A43359726B4F}"/>
              </a:ext>
            </a:extLst>
          </p:cNvPr>
          <p:cNvSpPr>
            <a:spLocks noGrp="1"/>
          </p:cNvSpPr>
          <p:nvPr>
            <p:ph type="body" sz="quarter" idx="12"/>
          </p:nvPr>
        </p:nvSpPr>
        <p:spPr>
          <a:xfrm>
            <a:off x="514027" y="1713372"/>
            <a:ext cx="11326874" cy="4873408"/>
          </a:xfrm>
        </p:spPr>
        <p:txBody>
          <a:bodyPr>
            <a:noAutofit/>
          </a:bodyPr>
          <a:lstStyle/>
          <a:p>
            <a:pPr marL="457200" indent="-457200">
              <a:buFont typeface="Arial" panose="020B0604020202020204" pitchFamily="34" charset="0"/>
              <a:buChar char="•"/>
            </a:pPr>
            <a:r>
              <a:rPr lang="en-US" sz="2400" dirty="0">
                <a:latin typeface="+mn-lt"/>
              </a:rPr>
              <a:t>Primary sources and secondary sources</a:t>
            </a:r>
          </a:p>
          <a:p>
            <a:pPr marL="285750" indent="-285750">
              <a:buFont typeface="Arial" panose="020B0604020202020204" pitchFamily="34" charset="0"/>
              <a:buChar char="•"/>
            </a:pPr>
            <a:r>
              <a:rPr lang="fr-FR" sz="2400" dirty="0">
                <a:effectLst/>
                <a:latin typeface="+mn-lt"/>
              </a:rPr>
              <a:t>How do </a:t>
            </a:r>
            <a:r>
              <a:rPr lang="fr-FR" sz="2400" dirty="0" err="1">
                <a:effectLst/>
                <a:latin typeface="+mn-lt"/>
              </a:rPr>
              <a:t>historians</a:t>
            </a:r>
            <a:r>
              <a:rPr lang="fr-FR" sz="2400" dirty="0">
                <a:effectLst/>
                <a:latin typeface="+mn-lt"/>
              </a:rPr>
              <a:t> </a:t>
            </a:r>
            <a:r>
              <a:rPr lang="fr-FR" sz="2400" dirty="0" err="1">
                <a:effectLst/>
                <a:latin typeface="+mn-lt"/>
              </a:rPr>
              <a:t>work</a:t>
            </a:r>
            <a:r>
              <a:rPr lang="fr-FR" sz="2400" dirty="0">
                <a:effectLst/>
                <a:latin typeface="+mn-lt"/>
              </a:rPr>
              <a:t> </a:t>
            </a:r>
            <a:r>
              <a:rPr lang="fr-FR" sz="2400" dirty="0" err="1">
                <a:effectLst/>
                <a:latin typeface="+mn-lt"/>
              </a:rPr>
              <a:t>with</a:t>
            </a:r>
            <a:r>
              <a:rPr lang="fr-FR" sz="2400" dirty="0">
                <a:effectLst/>
                <a:latin typeface="+mn-lt"/>
              </a:rPr>
              <a:t> sources? </a:t>
            </a:r>
          </a:p>
          <a:p>
            <a:r>
              <a:rPr lang="fr-FR" sz="2400" dirty="0" err="1">
                <a:effectLst/>
                <a:latin typeface="+mn-lt"/>
              </a:rPr>
              <a:t>Analysis</a:t>
            </a:r>
            <a:r>
              <a:rPr lang="fr-FR" sz="2400" dirty="0">
                <a:effectLst/>
                <a:latin typeface="+mn-lt"/>
              </a:rPr>
              <a:t> + </a:t>
            </a:r>
            <a:r>
              <a:rPr lang="fr-FR" sz="2400" dirty="0" err="1">
                <a:effectLst/>
                <a:latin typeface="+mn-lt"/>
              </a:rPr>
              <a:t>synthesis</a:t>
            </a:r>
            <a:br>
              <a:rPr lang="fr-FR" sz="2400" dirty="0">
                <a:effectLst/>
                <a:latin typeface="+mn-lt"/>
              </a:rPr>
            </a:br>
            <a:endParaRPr lang="fr-FR" sz="2400" dirty="0">
              <a:effectLst/>
              <a:latin typeface="+mn-lt"/>
            </a:endParaRPr>
          </a:p>
          <a:p>
            <a:r>
              <a:rPr lang="fr-FR" sz="2400" dirty="0" err="1">
                <a:effectLst/>
                <a:latin typeface="+mn-lt"/>
              </a:rPr>
              <a:t>Analysis</a:t>
            </a:r>
            <a:r>
              <a:rPr lang="fr-FR" sz="2400" dirty="0">
                <a:effectLst/>
                <a:latin typeface="+mn-lt"/>
              </a:rPr>
              <a:t>: </a:t>
            </a:r>
            <a:r>
              <a:rPr lang="fr-FR" sz="2400" dirty="0" err="1">
                <a:effectLst/>
                <a:latin typeface="+mn-lt"/>
              </a:rPr>
              <a:t>Preparatory</a:t>
            </a:r>
            <a:r>
              <a:rPr lang="fr-FR" sz="2400" dirty="0">
                <a:effectLst/>
                <a:latin typeface="+mn-lt"/>
              </a:rPr>
              <a:t> </a:t>
            </a:r>
            <a:r>
              <a:rPr lang="fr-FR" sz="2400" dirty="0" err="1">
                <a:effectLst/>
                <a:latin typeface="+mn-lt"/>
              </a:rPr>
              <a:t>measures</a:t>
            </a:r>
            <a:r>
              <a:rPr lang="fr-FR" sz="2400" dirty="0">
                <a:effectLst/>
                <a:latin typeface="+mn-lt"/>
              </a:rPr>
              <a:t> - Origin </a:t>
            </a:r>
            <a:r>
              <a:rPr lang="fr-FR" sz="2400" dirty="0" err="1">
                <a:effectLst/>
                <a:latin typeface="+mn-lt"/>
              </a:rPr>
              <a:t>analysis</a:t>
            </a:r>
            <a:r>
              <a:rPr lang="fr-FR" sz="2400" dirty="0">
                <a:effectLst/>
                <a:latin typeface="+mn-lt"/>
              </a:rPr>
              <a:t> - Content </a:t>
            </a:r>
            <a:r>
              <a:rPr lang="fr-FR" sz="2400" dirty="0" err="1">
                <a:effectLst/>
                <a:latin typeface="+mn-lt"/>
              </a:rPr>
              <a:t>analysis</a:t>
            </a:r>
            <a:endParaRPr lang="fr-FR" sz="2400" dirty="0">
              <a:effectLst/>
              <a:latin typeface="+mn-lt"/>
            </a:endParaRPr>
          </a:p>
          <a:p>
            <a:r>
              <a:rPr lang="fr-FR" sz="2400" dirty="0" err="1">
                <a:effectLst/>
                <a:latin typeface="+mn-lt"/>
              </a:rPr>
              <a:t>Synthesis</a:t>
            </a:r>
            <a:r>
              <a:rPr lang="fr-FR" sz="2400" dirty="0">
                <a:effectLst/>
                <a:latin typeface="+mn-lt"/>
              </a:rPr>
              <a:t>: </a:t>
            </a:r>
            <a:r>
              <a:rPr lang="fr-FR" sz="2400" dirty="0" err="1">
                <a:effectLst/>
                <a:latin typeface="+mn-lt"/>
              </a:rPr>
              <a:t>Consideration</a:t>
            </a:r>
            <a:r>
              <a:rPr lang="fr-FR" sz="2400" dirty="0">
                <a:effectLst/>
                <a:latin typeface="+mn-lt"/>
              </a:rPr>
              <a:t> of the source as a </a:t>
            </a:r>
            <a:r>
              <a:rPr lang="fr-FR" sz="2400" dirty="0" err="1">
                <a:effectLst/>
                <a:latin typeface="+mn-lt"/>
              </a:rPr>
              <a:t>sociocultural</a:t>
            </a:r>
            <a:r>
              <a:rPr lang="fr-FR" sz="2400" dirty="0">
                <a:effectLst/>
                <a:latin typeface="+mn-lt"/>
              </a:rPr>
              <a:t> </a:t>
            </a:r>
            <a:r>
              <a:rPr lang="fr-FR" sz="2400" dirty="0" err="1">
                <a:effectLst/>
                <a:latin typeface="+mn-lt"/>
              </a:rPr>
              <a:t>phenomenon</a:t>
            </a:r>
            <a:endParaRPr lang="fr-FR" sz="2400" dirty="0">
              <a:effectLst/>
              <a:latin typeface="+mn-lt"/>
            </a:endParaRPr>
          </a:p>
          <a:p>
            <a:endParaRPr lang="fr-FR" sz="2400" dirty="0">
              <a:effectLst/>
              <a:latin typeface="+mn-lt"/>
            </a:endParaRPr>
          </a:p>
          <a:p>
            <a:r>
              <a:rPr lang="fr-FR" sz="2400" dirty="0" err="1">
                <a:effectLst/>
                <a:latin typeface="+mn-lt"/>
              </a:rPr>
              <a:t>Problems</a:t>
            </a:r>
            <a:r>
              <a:rPr lang="fr-FR" sz="2400" dirty="0">
                <a:effectLst/>
                <a:latin typeface="+mn-lt"/>
              </a:rPr>
              <a:t>:</a:t>
            </a:r>
          </a:p>
          <a:p>
            <a:pPr marL="285750" indent="-285750">
              <a:buFont typeface="Arial" panose="020B0604020202020204" pitchFamily="34" charset="0"/>
              <a:buChar char="•"/>
            </a:pPr>
            <a:r>
              <a:rPr lang="fr-FR" sz="2400" dirty="0" err="1">
                <a:effectLst/>
                <a:latin typeface="+mn-lt"/>
              </a:rPr>
              <a:t>Accessibility</a:t>
            </a:r>
            <a:endParaRPr lang="fr-FR" sz="2400" dirty="0">
              <a:latin typeface="+mn-lt"/>
            </a:endParaRPr>
          </a:p>
          <a:p>
            <a:pPr marL="285750" indent="-285750">
              <a:buFont typeface="Arial" panose="020B0604020202020204" pitchFamily="34" charset="0"/>
              <a:buChar char="•"/>
            </a:pPr>
            <a:r>
              <a:rPr lang="fr-FR" sz="2400" dirty="0" err="1">
                <a:effectLst/>
                <a:latin typeface="+mn-lt"/>
              </a:rPr>
              <a:t>Preservation</a:t>
            </a:r>
            <a:endParaRPr lang="fr-FR" sz="2400" dirty="0">
              <a:effectLst/>
              <a:latin typeface="+mn-lt"/>
            </a:endParaRPr>
          </a:p>
          <a:p>
            <a:pPr marL="457200" indent="-457200">
              <a:buFont typeface="Arial" panose="020B0604020202020204" pitchFamily="34" charset="0"/>
              <a:buChar char="•"/>
            </a:pPr>
            <a:endParaRPr lang="ru-RU" sz="2400" dirty="0">
              <a:latin typeface="+mn-lt"/>
            </a:endParaRPr>
          </a:p>
          <a:p>
            <a:endParaRPr lang="en-US" sz="2400" dirty="0">
              <a:latin typeface="+mn-lt"/>
              <a:sym typeface="Wingdings" pitchFamily="2" charset="2"/>
            </a:endParaRPr>
          </a:p>
          <a:p>
            <a:endParaRPr lang="ru-RU" sz="2400" dirty="0">
              <a:latin typeface="+mn-lt"/>
              <a:sym typeface="Wingdings" pitchFamily="2" charset="2"/>
            </a:endParaRPr>
          </a:p>
          <a:p>
            <a:endParaRPr lang="ru-RU" sz="2400" b="1" dirty="0">
              <a:latin typeface="+mn-lt"/>
            </a:endParaRPr>
          </a:p>
          <a:p>
            <a:endParaRPr lang="en-US" sz="2400" b="1" dirty="0">
              <a:latin typeface="+mn-lt"/>
            </a:endParaRPr>
          </a:p>
          <a:p>
            <a:endParaRPr lang="ru-RU" sz="2400" b="1" dirty="0">
              <a:latin typeface="+mn-lt"/>
            </a:endParaRPr>
          </a:p>
        </p:txBody>
      </p:sp>
    </p:spTree>
    <p:extLst>
      <p:ext uri="{BB962C8B-B14F-4D97-AF65-F5344CB8AC3E}">
        <p14:creationId xmlns:p14="http://schemas.microsoft.com/office/powerpoint/2010/main" val="4110327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2161965"/>
      </p:ext>
    </p:extLst>
  </p:cSld>
  <p:clrMapOvr>
    <a:masterClrMapping/>
  </p:clrMapOvr>
</p:sld>
</file>

<file path=ppt/theme/theme1.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000" dirty="0">
            <a:latin typeface="HSE Sans"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Документ" ma:contentTypeID="0x0101002A9C74E6E830D74E9B0FDDB4017A5417" ma:contentTypeVersion="13" ma:contentTypeDescription="Создание документа." ma:contentTypeScope="" ma:versionID="d4e423622451d608a8a05f4da7a1e1a2">
  <xsd:schema xmlns:xsd="http://www.w3.org/2001/XMLSchema" xmlns:xs="http://www.w3.org/2001/XMLSchema" xmlns:p="http://schemas.microsoft.com/office/2006/metadata/properties" xmlns:ns2="9875bd71-cde8-496c-a136-433f55d5e6d0" xmlns:ns3="e96afe77-3acb-4328-97fc-408e1bde3ecd" targetNamespace="http://schemas.microsoft.com/office/2006/metadata/properties" ma:root="true" ma:fieldsID="4831203c63c08b9f52ea6d3ee0d7a96e" ns2:_="" ns3:_="">
    <xsd:import namespace="9875bd71-cde8-496c-a136-433f55d5e6d0"/>
    <xsd:import namespace="e96afe77-3acb-4328-97fc-408e1bde3ec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75bd71-cde8-496c-a136-433f55d5e6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96afe77-3acb-4328-97fc-408e1bde3ecd" elementFormDefault="qualified">
    <xsd:import namespace="http://schemas.microsoft.com/office/2006/documentManagement/types"/>
    <xsd:import namespace="http://schemas.microsoft.com/office/infopath/2007/PartnerControls"/>
    <xsd:element name="SharedWithUsers" ma:index="18"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Совместно с подробностями"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34386AA-1848-4C75-B336-1053927CB025}">
  <ds:schemaRefs>
    <ds:schemaRef ds:uri="http://schemas.microsoft.com/sharepoint/v3/contenttype/forms"/>
  </ds:schemaRefs>
</ds:datastoreItem>
</file>

<file path=customXml/itemProps2.xml><?xml version="1.0" encoding="utf-8"?>
<ds:datastoreItem xmlns:ds="http://schemas.openxmlformats.org/officeDocument/2006/customXml" ds:itemID="{4D4651DD-DCCC-4759-B2F6-7F520BDCC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75bd71-cde8-496c-a136-433f55d5e6d0"/>
    <ds:schemaRef ds:uri="e96afe77-3acb-4328-97fc-408e1bde3e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33DAF31-D8A6-49A0-9A5D-8B2EA5B1C511}">
  <ds:schemaRefs>
    <ds:schemaRef ds:uri="http://purl.org/dc/elements/1.1/"/>
    <ds:schemaRef ds:uri="http://schemas.microsoft.com/office/2006/documentManagement/types"/>
    <ds:schemaRef ds:uri="http://schemas.microsoft.com/office/infopath/2007/PartnerControls"/>
    <ds:schemaRef ds:uri="http://purl.org/dc/dcmitype/"/>
    <ds:schemaRef ds:uri="e96afe77-3acb-4328-97fc-408e1bde3ecd"/>
    <ds:schemaRef ds:uri="http://schemas.microsoft.com/office/2006/metadata/properties"/>
    <ds:schemaRef ds:uri="http://purl.org/dc/terms/"/>
    <ds:schemaRef ds:uri="http://www.w3.org/XML/1998/namespace"/>
    <ds:schemaRef ds:uri="http://schemas.openxmlformats.org/package/2006/metadata/core-properties"/>
    <ds:schemaRef ds:uri="9875bd71-cde8-496c-a136-433f55d5e6d0"/>
  </ds:schemaRefs>
</ds:datastoreItem>
</file>

<file path=docProps/app.xml><?xml version="1.0" encoding="utf-8"?>
<Properties xmlns="http://schemas.openxmlformats.org/officeDocument/2006/extended-properties" xmlns:vt="http://schemas.openxmlformats.org/officeDocument/2006/docPropsVTypes">
  <TotalTime>891</TotalTime>
  <Words>883</Words>
  <Application>Microsoft Macintosh PowerPoint</Application>
  <PresentationFormat>Широкоэкранный</PresentationFormat>
  <Paragraphs>91</Paragraphs>
  <Slides>12</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12</vt:i4>
      </vt:variant>
    </vt:vector>
  </HeadingPairs>
  <TitlesOfParts>
    <vt:vector size="16" baseType="lpstr">
      <vt:lpstr>Arial</vt:lpstr>
      <vt:lpstr>Calibri</vt:lpstr>
      <vt:lpstr>HSE Sans</vt:lpstr>
      <vt:lpstr>Office Theme</vt:lpstr>
      <vt:lpstr>Russian History </vt:lpstr>
      <vt:lpstr>Structure</vt:lpstr>
      <vt:lpstr>Final mark</vt:lpstr>
      <vt:lpstr>Some important info (1)</vt:lpstr>
      <vt:lpstr>Some important info (2)</vt:lpstr>
      <vt:lpstr>Some important info (3)</vt:lpstr>
      <vt:lpstr>Презентация PowerPoint</vt:lpstr>
      <vt:lpstr>What is history?</vt:lpstr>
      <vt:lpstr>Historical sources (1) </vt:lpstr>
      <vt:lpstr>Historical sources (2) </vt:lpstr>
      <vt:lpstr>Working with sources</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Кутьков Юрий Юрьевич</dc:creator>
  <cp:lastModifiedBy>Аксенова Мария Дмитриевна</cp:lastModifiedBy>
  <cp:revision>76</cp:revision>
  <cp:lastPrinted>2021-11-11T13:08:42Z</cp:lastPrinted>
  <dcterms:created xsi:type="dcterms:W3CDTF">2021-11-11T08:52:47Z</dcterms:created>
  <dcterms:modified xsi:type="dcterms:W3CDTF">2026-09-01T07:57:07Z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0x0101002A9C74E6E830D74E9B0FDDB4017A5417</vt:lpwstr>
  </property>
</Properties>
</file>